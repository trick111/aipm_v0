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8534186" cy="41148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" name="Picture 4" descr="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457200"/>
            <a:ext cx="2103120" cy="53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3154680"/>
            <a:ext cx="365760" cy="54864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9923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FOR FC HEADQUARTERS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ea typeface="Hiragino Sans"/>
                <a:latin typeface="Hiragino Sans"/>
              </a:rPr>
              <a:t>多店舗チェーンの集客を、ひとまとめに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ea typeface="Hiragino Sans"/>
                <a:latin typeface="Hiragino Sans"/>
              </a:rPr>
              <a:t>飲食 FC 本部のための SNS × MEO 統合パートナー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371600" cy="36576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63093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ea typeface="Helvetica Neue"/>
                <a:latin typeface="Helvetica Neue"/>
              </a:rPr>
              <a:t>For Multi-store FC Headquarters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課題  /  ISSUE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333333"/>
                </a:solidFill>
                <a:ea typeface="Hiragino Sans"/>
                <a:latin typeface="Hiragino Sans"/>
              </a:rPr>
              <a:t>「現場任せ」の集客、もう限界が見えていませんか？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454298" cy="370332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454298" cy="7315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777240" cy="77724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7772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ea typeface="Helvetica Neue"/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34639"/>
            <a:ext cx="208269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297A9"/>
                </a:solidFill>
                <a:ea typeface="Helvetica Neue"/>
                <a:latin typeface="Helvetica Neue"/>
              </a:rPr>
              <a:t>OPENING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108960"/>
            <a:ext cx="274320" cy="2743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905658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26D64"/>
                </a:solidFill>
                <a:ea typeface="Hiragino Sans"/>
                <a:latin typeface="Hiragino Sans"/>
              </a:rPr>
              <a:t>新店オープン時の「最初の3ヶ月」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2905658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グランドオープン直後の認知不足。SNS の自然流入を待つには、もう遅すぎる。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698" y="2331720"/>
            <a:ext cx="3454298" cy="370332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698" y="2331720"/>
            <a:ext cx="3454298" cy="7315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3018" y="2651760"/>
            <a:ext cx="777240" cy="77724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3018" y="2715768"/>
            <a:ext cx="7772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ea typeface="Helvetica Neue"/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7418" y="2834639"/>
            <a:ext cx="208269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297A9"/>
                </a:solidFill>
                <a:ea typeface="Helvetica Neue"/>
                <a:latin typeface="Helvetica Neue"/>
              </a:rPr>
              <a:t>OPERATION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57418" y="3108960"/>
            <a:ext cx="274320" cy="2743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3018" y="3794760"/>
            <a:ext cx="2905658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26D64"/>
                </a:solidFill>
                <a:ea typeface="Hiragino Sans"/>
                <a:latin typeface="Hiragino Sans"/>
              </a:rPr>
              <a:t>店舗ごとに品質がバラつく SNS 運用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4937760"/>
            <a:ext cx="2905658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個店オーナーに任せた SNS は更新頻度・トーン・成果が揃わず、本部が消耗する。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2331720"/>
            <a:ext cx="3454298" cy="370332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2331720"/>
            <a:ext cx="3454298" cy="7315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71636" y="2651760"/>
            <a:ext cx="777240" cy="77724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1636" y="2715768"/>
            <a:ext cx="7772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ea typeface="Helvetica Neue"/>
                <a:latin typeface="Helvetica Neue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6036" y="2834639"/>
            <a:ext cx="208269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297A9"/>
                </a:solidFill>
                <a:ea typeface="Helvetica Neue"/>
                <a:latin typeface="Helvetica Neue"/>
              </a:rPr>
              <a:t>MEO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6036" y="3108960"/>
            <a:ext cx="274320" cy="2743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1636" y="3794760"/>
            <a:ext cx="2905658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26D64"/>
                </a:solidFill>
                <a:ea typeface="Hiragino Sans"/>
                <a:latin typeface="Hiragino Sans"/>
              </a:rPr>
              <a:t>100店舗のGoogleマップ
を、誰が管理する？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1636" y="4937760"/>
            <a:ext cx="2905658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GBP の写真・情報・口コミ返信が止まり、検索順位がじりじり下落。本部に手が回らない。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333333"/>
                </a:solidFill>
                <a:ea typeface="Hiragino Sans"/>
                <a:latin typeface="Hiragino Sans"/>
              </a:rPr>
              <a:t>3 つのサービスで FC 本部の集客を巻き取る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45429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454298" cy="7315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45429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09D01"/>
                </a:solidFill>
                <a:ea typeface="Helvetica Neue"/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45429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297A9"/>
                </a:solidFill>
                <a:ea typeface="Helvetica Neue"/>
                <a:latin typeface="Helvetica Neue"/>
              </a:rPr>
              <a:t>Influencer Casting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8629" y="3977639"/>
            <a:ext cx="4572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114800"/>
            <a:ext cx="308853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26D64"/>
                </a:solidFill>
                <a:ea typeface="Hiragino Sans"/>
                <a:latin typeface="Hiragino Sans"/>
              </a:rPr>
              <a:t>グルメ大学+PLUS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2905658" cy="960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インフルエンサーキャスティングで、新店の認知を一気に立ち上げる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9949" y="5486400"/>
            <a:ext cx="2194560" cy="347472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9949" y="54864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26D64"/>
                </a:solidFill>
                <a:ea typeface="Hiragino Sans"/>
                <a:latin typeface="Hiragino Sans"/>
              </a:rPr>
              <a:t>KPI: 認知獲得 / 初動売上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286000"/>
            <a:ext cx="345429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8698" y="2286000"/>
            <a:ext cx="3454298" cy="7315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8698" y="2606040"/>
            <a:ext cx="345429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09D01"/>
                </a:solidFill>
                <a:ea typeface="Helvetica Neue"/>
                <a:latin typeface="Helvetica Neu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698" y="3611880"/>
            <a:ext cx="345429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297A9"/>
                </a:solidFill>
                <a:ea typeface="Helvetica Neue"/>
                <a:latin typeface="Helvetica Neue"/>
              </a:rPr>
              <a:t>SNS Operation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7247" y="3977639"/>
            <a:ext cx="4572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1578" y="4114800"/>
            <a:ext cx="308853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26D64"/>
                </a:solidFill>
                <a:ea typeface="Hiragino Sans"/>
                <a:latin typeface="Hiragino Sans"/>
              </a:rPr>
              <a:t>グルメ大学Consulting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4617720"/>
            <a:ext cx="2905658" cy="960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全店舗の TikTok / Instagram を、ブランド統一のまま運用代行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8567" y="5486400"/>
            <a:ext cx="2194560" cy="347472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8567" y="54864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26D64"/>
                </a:solidFill>
                <a:ea typeface="Hiragino Sans"/>
                <a:latin typeface="Hiragino Sans"/>
              </a:rPr>
              <a:t>KPI: ファン化 / リピート率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7316" y="2286000"/>
            <a:ext cx="345429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7316" y="2286000"/>
            <a:ext cx="3454298" cy="7315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7316" y="2606040"/>
            <a:ext cx="345429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09D01"/>
                </a:solidFill>
                <a:ea typeface="Helvetica Neue"/>
                <a:latin typeface="Helvetica Neue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316" y="3611880"/>
            <a:ext cx="345429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297A9"/>
                </a:solidFill>
                <a:ea typeface="Helvetica Neue"/>
                <a:latin typeface="Helvetica Neue"/>
              </a:rPr>
              <a:t>MEO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95865" y="3977639"/>
            <a:ext cx="45720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0196" y="4114800"/>
            <a:ext cx="3088538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26D64"/>
                </a:solidFill>
                <a:ea typeface="Hiragino Sans"/>
                <a:latin typeface="Hiragino Sans"/>
              </a:rPr>
              <a:t>グルメ大学GBP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1636" y="4617720"/>
            <a:ext cx="2905658" cy="960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多店舗の Google マップを、本部から一括で正しく保つ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27185" y="5486400"/>
            <a:ext cx="2194560" cy="347472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7185" y="54864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26D64"/>
                </a:solidFill>
                <a:ea typeface="Hiragino Sans"/>
                <a:latin typeface="Hiragino Sans"/>
              </a:rPr>
              <a:t>KPI: MEO 順位 / 検索流入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8076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ea typeface="Hiragino Sans"/>
                <a:latin typeface="Hiragino Sans"/>
              </a:rPr>
              <a:t>※ すべて飲食特化メディア「グルメ大学」運営で築いた知見・人脈をベースに提供しています。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" name="Picture 2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8901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7297A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785" y="1828800"/>
            <a:ext cx="2377440" cy="237744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785" y="2331720"/>
            <a:ext cx="23774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ea typeface="Helvetica Neue"/>
                <a:latin typeface="Helvetica Neue"/>
              </a:rPr>
              <a:t>3</a:t>
            </a:r>
            <a:r>
              <a:rPr sz="2400" b="1" i="0">
                <a:solidFill>
                  <a:srgbClr val="FFFFFF"/>
                </a:solidFill>
                <a:ea typeface="Hiragino Sans"/>
                <a:latin typeface="Hiragino Sans"/>
              </a:rPr>
              <a:t> ヶ月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4480559"/>
            <a:ext cx="402325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 i="0">
                <a:solidFill>
                  <a:srgbClr val="FFFFFF"/>
                </a:solidFill>
                <a:ea typeface="Hiragino Sans"/>
                <a:latin typeface="Hiragino Sans"/>
              </a:rPr>
              <a:t>新店オープン期の
認知獲得を圧縮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080760"/>
            <a:ext cx="402325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FFFFFF"/>
                </a:solidFill>
                <a:ea typeface="Hiragino Sans"/>
                <a:latin typeface="Hiragino Sans"/>
              </a:rPr>
              <a:t>※ 撮影前にインフルエンサーと企画を擦り合わせ → 高い再現性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770" y="502920"/>
            <a:ext cx="69797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SERVICE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77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770" y="960120"/>
            <a:ext cx="6979724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333333"/>
                </a:solidFill>
                <a:ea typeface="Hiragino Sans"/>
                <a:latin typeface="Hiragino Sans"/>
              </a:rPr>
              <a:t>グルメ大学+PLUS</a:t>
            </a:r>
            <a:r>
              <a:rPr sz="2600" b="0" i="0">
                <a:solidFill>
                  <a:srgbClr val="333333"/>
                </a:solidFill>
                <a:ea typeface="Hiragino Sans"/>
                <a:latin typeface="Hiragino Sans"/>
              </a:rPr>
              <a:t>  </a:t>
            </a:r>
            <a:r>
              <a:rPr sz="1800" b="1" i="0">
                <a:solidFill>
                  <a:srgbClr val="126D64"/>
                </a:solidFill>
                <a:ea typeface="Hiragino Sans"/>
                <a:latin typeface="Hiragino Sans"/>
              </a:rPr>
              <a:t>— インフルエンサーキャスティング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770" y="2377440"/>
            <a:ext cx="6979724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404040"/>
                </a:solidFill>
                <a:ea typeface="Hiragino Sans"/>
                <a:latin typeface="Hiragino Sans"/>
              </a:rPr>
              <a:t>メガインフルエンサーを中心に、業態と相性の合う発信者を選定。グルメ大学運営で築いた人脈から、本部側で 1 件ずつ営業せず、本部担当者は最終 GO だけで進められます。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770" y="4023360"/>
            <a:ext cx="54864" cy="32004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1930" y="4023360"/>
            <a:ext cx="68425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26D64"/>
                </a:solidFill>
                <a:ea typeface="Hiragino Sans"/>
                <a:latin typeface="Hiragino Sans"/>
              </a:rPr>
              <a:t>こんな本部に効く</a:t>
            </a:r>
          </a:p>
        </p:txBody>
      </p:sp>
      <p:sp>
        <p:nvSpPr>
          <p:cNvPr id="15" name="Oval 14"/>
          <p:cNvSpPr/>
          <p:nvPr/>
        </p:nvSpPr>
        <p:spPr>
          <a:xfrm>
            <a:off x="4754770" y="4617720"/>
            <a:ext cx="274320" cy="274320"/>
          </a:xfrm>
          <a:prstGeom prst="ellipse">
            <a:avLst/>
          </a:prstGeom>
          <a:solidFill>
            <a:srgbClr val="12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770" y="4617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530" y="4572000"/>
            <a:ext cx="303266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グランドオープン期の認知獲得</a:t>
            </a:r>
          </a:p>
        </p:txBody>
      </p:sp>
      <p:sp>
        <p:nvSpPr>
          <p:cNvPr id="18" name="Oval 17"/>
          <p:cNvSpPr/>
          <p:nvPr/>
        </p:nvSpPr>
        <p:spPr>
          <a:xfrm>
            <a:off x="8244632" y="4617720"/>
            <a:ext cx="274320" cy="274320"/>
          </a:xfrm>
          <a:prstGeom prst="ellipse">
            <a:avLst/>
          </a:prstGeom>
          <a:solidFill>
            <a:srgbClr val="12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632" y="4617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0392" y="4572000"/>
            <a:ext cx="303266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季節キャンペーン / 新商品の一斉告知</a:t>
            </a:r>
          </a:p>
        </p:txBody>
      </p:sp>
      <p:sp>
        <p:nvSpPr>
          <p:cNvPr id="21" name="Oval 20"/>
          <p:cNvSpPr/>
          <p:nvPr/>
        </p:nvSpPr>
        <p:spPr>
          <a:xfrm>
            <a:off x="4754770" y="5257800"/>
            <a:ext cx="274320" cy="274320"/>
          </a:xfrm>
          <a:prstGeom prst="ellipse">
            <a:avLst/>
          </a:prstGeom>
          <a:solidFill>
            <a:srgbClr val="12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770" y="5257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530" y="5212080"/>
            <a:ext cx="303266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既存店リブランド後の再認知</a:t>
            </a:r>
          </a:p>
        </p:txBody>
      </p:sp>
      <p:sp>
        <p:nvSpPr>
          <p:cNvPr id="24" name="Oval 23"/>
          <p:cNvSpPr/>
          <p:nvPr/>
        </p:nvSpPr>
        <p:spPr>
          <a:xfrm>
            <a:off x="8244632" y="5257800"/>
            <a:ext cx="274320" cy="274320"/>
          </a:xfrm>
          <a:prstGeom prst="ellipse">
            <a:avLst/>
          </a:prstGeom>
          <a:solidFill>
            <a:srgbClr val="12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632" y="5257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0392" y="5212080"/>
            <a:ext cx="303266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多店舗一斉投入で話題化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SERVICE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333333"/>
                </a:solidFill>
                <a:ea typeface="Hiragino Sans"/>
                <a:latin typeface="Hiragino Sans"/>
              </a:rPr>
              <a:t>TikTok と Instagram は、役割が違う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272887" cy="361188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79"/>
            <a:ext cx="435848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ea typeface="Helvetica Neue"/>
                <a:latin typeface="Helvetica Neue"/>
              </a:rPr>
              <a:t>TikTok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91839"/>
            <a:ext cx="548640" cy="36576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358487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ea typeface="Hiragino Sans"/>
                <a:latin typeface="Hiragino Sans"/>
              </a:rPr>
              <a:t>「知る」を作る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358487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ea typeface="Hiragino Sans"/>
                <a:latin typeface="Hiragino Sans"/>
              </a:rPr>
              <a:t>フォロワー外への到達設計。バズの再現性を狙う構成と、トレンド音源の組み込みを本部レベルで標準化。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166360"/>
            <a:ext cx="4358487" cy="45720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435848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ea typeface="Hiragino Sans"/>
                <a:latin typeface="Hiragino Sans"/>
              </a:rPr>
              <a:t>重視指標  =  視聴完了率  /  シェア数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331720"/>
            <a:ext cx="5272887" cy="3611880"/>
          </a:xfrm>
          <a:prstGeom prst="roundRect">
            <a:avLst>
              <a:gd name="adj" fmla="val 3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5927" y="2697479"/>
            <a:ext cx="435848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ea typeface="Helvetica Neue"/>
                <a:latin typeface="Helvetica Neue"/>
              </a:rPr>
              <a:t>Instagram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35927" y="3291839"/>
            <a:ext cx="548640" cy="36576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5927" y="3429000"/>
            <a:ext cx="4358487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09D01"/>
                </a:solidFill>
                <a:ea typeface="Hiragino Sans"/>
                <a:latin typeface="Hiragino Sans"/>
              </a:rPr>
              <a:t>「ファン」を作る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206240"/>
            <a:ext cx="4358487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訪問前の世界観確認とリピーター化。フィード・リール・ストーリーズを役割分担し、店舗トーンを保ったまま更新。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5927" y="5166360"/>
            <a:ext cx="4358487" cy="457200"/>
          </a:xfrm>
          <a:prstGeom prst="roundRect">
            <a:avLst/>
          </a:prstGeom>
          <a:solidFill>
            <a:srgbClr val="12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5927" y="5166360"/>
            <a:ext cx="435848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ea typeface="Hiragino Sans"/>
                <a:latin typeface="Hiragino Sans"/>
              </a:rPr>
              <a:t>重視指標  =  保存数  /  プロフィール遷移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911535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26D64"/>
                </a:solidFill>
                <a:ea typeface="Hiragino Sans"/>
                <a:latin typeface="Hiragino Sans"/>
              </a:rPr>
              <a:t>「お客様は TikTok で知って、Instagram でファンになる」</a:t>
            </a: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  —  この導線を本部の運用標準にします。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SERVICE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ea typeface="Hiragino Sans"/>
                <a:latin typeface="Hiragino Sans"/>
              </a:rPr>
              <a:t>100 店舗の Google マップを、本部のダッシュボードから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800176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ea typeface="Hiragino Sans"/>
                <a:latin typeface="Hiragino Sans"/>
              </a:rPr>
              <a:t>GBP の写真・営業時間・特別営業日・口コミ返信を、ブランド統一のまま一括更新。新規集客の入口である Google マップを、本部の手の届く資産に変えます。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860240" cy="2011680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1860240" cy="64008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86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09D01"/>
                </a:solidFill>
                <a:ea typeface="Helvetica Neue"/>
                <a:latin typeface="Helvetica Neue"/>
              </a:rP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5074920"/>
            <a:ext cx="1713936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26D64"/>
                </a:solidFill>
                <a:ea typeface="Hiragino Sans"/>
                <a:latin typeface="Hiragino Sans"/>
              </a:rPr>
              <a:t>同時管理可能
店舗数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5623560"/>
            <a:ext cx="171393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ea typeface="Helvetica Neue"/>
                <a:latin typeface="Helvetica Neue"/>
              </a:rPr>
              <a:t>Stores managed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0048" y="3931920"/>
            <a:ext cx="1860240" cy="2011680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10048" y="3931920"/>
            <a:ext cx="1860240" cy="64008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0048" y="4114800"/>
            <a:ext cx="186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09D01"/>
                </a:solidFill>
                <a:ea typeface="Helvetica Neue"/>
                <a:latin typeface="Helvetica Neue"/>
              </a:rPr>
              <a:t>5 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3200" y="5074920"/>
            <a:ext cx="1713936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26D64"/>
                </a:solidFill>
                <a:ea typeface="Hiragino Sans"/>
                <a:latin typeface="Hiragino Sans"/>
              </a:rPr>
              <a:t>1 店舗あたり
週次運用工数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3200" y="5623560"/>
            <a:ext cx="171393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ea typeface="Helvetica Neue"/>
                <a:latin typeface="Helvetica Neue"/>
              </a:rPr>
              <a:t>Weekly ops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0016" y="3931920"/>
            <a:ext cx="1860240" cy="2011680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80016" y="3931920"/>
            <a:ext cx="1860240" cy="64008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0016" y="4114800"/>
            <a:ext cx="186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09D01"/>
                </a:solidFill>
                <a:ea typeface="Helvetica Neue"/>
                <a:latin typeface="Helvetica Neue"/>
              </a:rPr>
              <a:t>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3168" y="5074920"/>
            <a:ext cx="1713936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26D64"/>
                </a:solidFill>
                <a:ea typeface="Hiragino Sans"/>
                <a:latin typeface="Hiragino Sans"/>
              </a:rPr>
              <a:t>平均 MEO
表示増加*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3168" y="5623560"/>
            <a:ext cx="171393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ea typeface="Helvetica Neue"/>
                <a:latin typeface="Helvetica Neue"/>
              </a:rPr>
              <a:t>Visibility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5800176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*業界一般指標。実績は店舗・業態によって異なります。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06016" y="2011680"/>
            <a:ext cx="4745598" cy="429768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42592" y="2066544"/>
            <a:ext cx="4672446" cy="640080"/>
          </a:xfrm>
          <a:prstGeom prst="roundRect">
            <a:avLst/>
          </a:prstGeom>
          <a:solidFill>
            <a:srgbClr val="12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0336" y="2066544"/>
            <a:ext cx="419695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ea typeface="Hiragino Sans"/>
                <a:latin typeface="Hiragino Sans"/>
              </a:rPr>
              <a:t>主要機能 / Features</a:t>
            </a:r>
          </a:p>
        </p:txBody>
      </p:sp>
      <p:sp>
        <p:nvSpPr>
          <p:cNvPr id="26" name="Oval 25"/>
          <p:cNvSpPr/>
          <p:nvPr/>
        </p:nvSpPr>
        <p:spPr>
          <a:xfrm>
            <a:off x="7034616" y="3068574"/>
            <a:ext cx="256032" cy="256032"/>
          </a:xfrm>
          <a:prstGeom prst="ellipse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4616" y="306857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0376" y="2926080"/>
            <a:ext cx="3968358" cy="5410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多店舗一括投稿 (写真 / 営業情報 / 投稿)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0376" y="3457956"/>
            <a:ext cx="3968358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34616" y="3609594"/>
            <a:ext cx="256032" cy="256032"/>
          </a:xfrm>
          <a:prstGeom prst="ellipse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4616" y="360959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0376" y="3467100"/>
            <a:ext cx="3968358" cy="5410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口コミ自動振り分け &amp; 返信テンプレート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0376" y="3998976"/>
            <a:ext cx="3968358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34616" y="4150614"/>
            <a:ext cx="256032" cy="256032"/>
          </a:xfrm>
          <a:prstGeom prst="ellipse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4616" y="415061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0376" y="4008120"/>
            <a:ext cx="3968358" cy="5410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順位モニタリング (キーワード / エリア別)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0376" y="4539996"/>
            <a:ext cx="3968358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34616" y="4691634"/>
            <a:ext cx="256032" cy="256032"/>
          </a:xfrm>
          <a:prstGeom prst="ellipse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4616" y="469163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0376" y="4549140"/>
            <a:ext cx="3968358" cy="5410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競合店比較レポート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0376" y="5081016"/>
            <a:ext cx="3968358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34616" y="5232654"/>
            <a:ext cx="256032" cy="256032"/>
          </a:xfrm>
          <a:prstGeom prst="ellipse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34616" y="523265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0376" y="5090160"/>
            <a:ext cx="3968358" cy="5410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写真品質チェック (AI スコア)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0376" y="5622036"/>
            <a:ext cx="3968358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34616" y="5773674"/>
            <a:ext cx="256032" cy="256032"/>
          </a:xfrm>
          <a:prstGeom prst="ellipse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34616" y="577367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0376" y="5631180"/>
            <a:ext cx="3968358" cy="5410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CSV 一括インポート / エクスポート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ea typeface="Hiragino Sans"/>
                <a:latin typeface="Hiragino Sans"/>
              </a:rPr>
              <a:t>フェーズに合わせて、必要なものから始められます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301898" cy="3291840"/>
          </a:xfrm>
          <a:prstGeom prst="roundRect">
            <a:avLst>
              <a:gd name="adj" fmla="val 4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514600"/>
            <a:ext cx="3265322" cy="502920"/>
          </a:xfrm>
          <a:prstGeom prst="round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ea typeface="Helvetica Neue"/>
                <a:latin typeface="Helvetica Neue"/>
              </a:rPr>
              <a:t>PHASE 1   |   OPENING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2936138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26D64"/>
                </a:solidFill>
                <a:ea typeface="Hiragino Sans"/>
                <a:latin typeface="Hiragino Sans"/>
              </a:rPr>
              <a:t>新店オープン期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49039"/>
            <a:ext cx="293613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  <a:ea typeface="Helvetica Neue"/>
                <a:latin typeface="Helvetica Neue"/>
              </a:rPr>
              <a:t>0 – 3ヶ月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6709" y="4251960"/>
            <a:ext cx="548640" cy="18288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34340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ea typeface="Hiragino Sans"/>
                <a:latin typeface="Hiragino Sans"/>
              </a:rPr>
              <a:t>推奨サービス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17720"/>
            <a:ext cx="2844698" cy="45720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2844698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+PLUS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1208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ea typeface="Hiragino Sans"/>
                <a:latin typeface="Hiragino Sans"/>
              </a:rPr>
              <a:t>KPI 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44068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26D64"/>
                </a:solidFill>
                <a:ea typeface="Hiragino Sans"/>
                <a:latin typeface="Hiragino Sans"/>
              </a:rPr>
              <a:t>認知獲得  /  初動売上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87698" y="3840480"/>
            <a:ext cx="411480" cy="548640"/>
          </a:xfrm>
          <a:prstGeom prst="rightArrow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44898" y="2468880"/>
            <a:ext cx="3301898" cy="3291840"/>
          </a:xfrm>
          <a:prstGeom prst="roundRect">
            <a:avLst>
              <a:gd name="adj" fmla="val 4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3186" y="2514600"/>
            <a:ext cx="3265322" cy="502920"/>
          </a:xfrm>
          <a:prstGeom prst="round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4898" y="251460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ea typeface="Helvetica Neue"/>
                <a:latin typeface="Helvetica Neue"/>
              </a:rPr>
              <a:t>PHASE 2   |  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26D64"/>
                </a:solidFill>
                <a:ea typeface="Hiragino Sans"/>
                <a:latin typeface="Hiragino Sans"/>
              </a:rPr>
              <a:t>定常運営期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7778" y="3749039"/>
            <a:ext cx="293613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  <a:ea typeface="Helvetica Neue"/>
                <a:latin typeface="Helvetica Neue"/>
              </a:rPr>
              <a:t>3 – 12ヶ月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21527" y="4251960"/>
            <a:ext cx="548640" cy="18288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7778" y="434340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ea typeface="Hiragino Sans"/>
                <a:latin typeface="Hiragino Sans"/>
              </a:rPr>
              <a:t>推奨サービス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73498" y="4617720"/>
            <a:ext cx="2844698" cy="45720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3498" y="4617720"/>
            <a:ext cx="2844698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Consulting + GBP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778" y="521208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ea typeface="Hiragino Sans"/>
                <a:latin typeface="Hiragino Sans"/>
              </a:rPr>
              <a:t>KPI 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7778" y="544068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26D64"/>
                </a:solidFill>
                <a:ea typeface="Hiragino Sans"/>
                <a:latin typeface="Hiragino Sans"/>
              </a:rPr>
              <a:t>LTV / リピート率  /  検索順位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92516" y="3840480"/>
            <a:ext cx="411480" cy="548640"/>
          </a:xfrm>
          <a:prstGeom prst="rightArrow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49716" y="2468880"/>
            <a:ext cx="3301898" cy="3291840"/>
          </a:xfrm>
          <a:prstGeom prst="roundRect">
            <a:avLst>
              <a:gd name="adj" fmla="val 4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68004" y="2514600"/>
            <a:ext cx="3265322" cy="502920"/>
          </a:xfrm>
          <a:prstGeom prst="round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9716" y="251460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ea typeface="Helvetica Neue"/>
                <a:latin typeface="Helvetica Neue"/>
              </a:rPr>
              <a:t>PHASE 3   |   EXPANSION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596" y="3246120"/>
            <a:ext cx="2936138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26D64"/>
                </a:solidFill>
                <a:ea typeface="Hiragino Sans"/>
                <a:latin typeface="Hiragino Sans"/>
              </a:rPr>
              <a:t>多店舗拡大期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2596" y="3749039"/>
            <a:ext cx="2936138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  <a:ea typeface="Helvetica Neue"/>
                <a:latin typeface="Helvetica Neue"/>
              </a:rPr>
              <a:t>12ヶ月 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26346" y="4251960"/>
            <a:ext cx="548640" cy="18288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2596" y="434340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ea typeface="Hiragino Sans"/>
                <a:latin typeface="Hiragino Sans"/>
              </a:rPr>
              <a:t>推奨サービス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8316" y="4617720"/>
            <a:ext cx="2844698" cy="45720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8316" y="4617720"/>
            <a:ext cx="2844698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ea typeface="Helvetica Neue"/>
                <a:latin typeface="Helvetica Neue"/>
              </a:rPr>
              <a:t>Consulting + GBP + 随時 +PLUS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2596" y="521208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ea typeface="Hiragino Sans"/>
                <a:latin typeface="Hiragino Sans"/>
              </a:rPr>
              <a:t>KPI 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596" y="544068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26D64"/>
                </a:solidFill>
                <a:ea typeface="Hiragino Sans"/>
                <a:latin typeface="Hiragino Sans"/>
              </a:rPr>
              <a:t>全店標準化  /  本部工数削減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ea typeface="Hiragino Sans"/>
                <a:latin typeface="Hiragino Sans"/>
              </a:rPr>
              <a:t>既存店だけ・新店だけの部分採用も可。本部の優先課題から逆算してご提案します。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WHY UNI'SON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ea typeface="Hiragino Sans"/>
                <a:latin typeface="Hiragino Sans"/>
              </a:rPr>
              <a:t>「飲食特化 × 多店舗対応」を両立できるのは限られている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911532" cy="347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比較軸</a:t>
                      </a:r>
                    </a:p>
                  </a:txBody>
                  <a:tcPr marL="109728" marR="109728" marT="73152" marB="73152" anchor="ctr">
                    <a:solidFill>
                      <a:srgbClr val="126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UNI'SON</a:t>
                      </a:r>
                    </a:p>
                  </a:txBody>
                  <a:tcPr marL="109728" marR="109728" marT="73152" marB="73152" anchor="ctr">
                    <a:solidFill>
                      <a:srgbClr val="F09D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一般 SNS 運用代行</a:t>
                      </a:r>
                    </a:p>
                  </a:txBody>
                  <a:tcPr marL="109728" marR="109728" marT="73152" marB="73152" anchor="ctr">
                    <a:solidFill>
                      <a:srgbClr val="126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本部内製</a:t>
                      </a:r>
                    </a:p>
                  </a:txBody>
                  <a:tcPr marL="109728" marR="109728" marT="73152" marB="73152" anchor="ctr">
                    <a:solidFill>
                      <a:srgbClr val="126D64"/>
                    </a:solidFill>
                  </a:tcPr>
                </a:tc>
              </a:tr>
              <a:tr h="708659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ea typeface="Hiragino Sans"/>
                          <a:latin typeface="Hiragino Sans"/>
                        </a:rPr>
                        <a:t>飲食業界の知見</a:t>
                      </a:r>
                    </a:p>
                  </a:txBody>
                  <a:tcPr marL="109728" marR="109728" marT="73152" marB="7315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26D64"/>
                          </a:solidFill>
                          <a:ea typeface="Hiragino Sans"/>
                          <a:latin typeface="Hiragino Sans"/>
                        </a:rPr>
                        <a:t>◎ 飲食特化メディア運営の実績</a:t>
                      </a:r>
                    </a:p>
                  </a:txBody>
                  <a:tcPr marL="109728" marR="109728" marT="73152" marB="73152" anchor="ctr">
                    <a:solidFill>
                      <a:srgbClr val="E8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△ 業界横断・浅い</a:t>
                      </a:r>
                    </a:p>
                  </a:txBody>
                  <a:tcPr marL="109728" marR="109728" marT="73152" marB="7315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○ 自社業態は深い</a:t>
                      </a:r>
                    </a:p>
                  </a:txBody>
                  <a:tcPr marL="109728" marR="109728" marT="73152" marB="73152" anchor="ctr">
                    <a:solidFill>
                      <a:srgbClr val="F0F0F0"/>
                    </a:solidFill>
                  </a:tcPr>
                </a:tc>
              </a:tr>
              <a:tr h="708659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ea typeface="Hiragino Sans"/>
                          <a:latin typeface="Hiragino Sans"/>
                        </a:rPr>
                        <a:t>インフルエンサー人脈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26D64"/>
                          </a:solidFill>
                          <a:ea typeface="Hiragino Sans"/>
                          <a:latin typeface="Hiragino Sans"/>
                        </a:rPr>
                        <a:t>◎ メガインフル中心の独自ルート</a:t>
                      </a:r>
                    </a:p>
                  </a:txBody>
                  <a:tcPr marL="109728" marR="109728" marT="73152" marB="73152" anchor="ctr">
                    <a:solidFill>
                      <a:srgbClr val="E8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△ 仲介経由でコスト高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× 個別営業が必要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</a:tr>
              <a:tr h="708659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ea typeface="Hiragino Sans"/>
                          <a:latin typeface="Hiragino Sans"/>
                        </a:rPr>
                        <a:t>多店舗ガバナンス</a:t>
                      </a:r>
                    </a:p>
                  </a:txBody>
                  <a:tcPr marL="109728" marR="109728" marT="73152" marB="7315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26D64"/>
                          </a:solidFill>
                          <a:ea typeface="Hiragino Sans"/>
                          <a:latin typeface="Hiragino Sans"/>
                        </a:rPr>
                        <a:t>◎ 本部ダッシュボードで一括</a:t>
                      </a:r>
                    </a:p>
                  </a:txBody>
                  <a:tcPr marL="109728" marR="109728" marT="73152" marB="73152" anchor="ctr">
                    <a:solidFill>
                      <a:srgbClr val="E8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× 店舗別に都度依頼</a:t>
                      </a:r>
                    </a:p>
                  </a:txBody>
                  <a:tcPr marL="109728" marR="109728" marT="73152" marB="7315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△ 本部リソース過多</a:t>
                      </a:r>
                    </a:p>
                  </a:txBody>
                  <a:tcPr marL="109728" marR="109728" marT="73152" marB="73152" anchor="ctr">
                    <a:solidFill>
                      <a:srgbClr val="F0F0F0"/>
                    </a:solidFill>
                  </a:tcPr>
                </a:tc>
              </a:tr>
              <a:tr h="708659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ea typeface="Hiragino Sans"/>
                          <a:latin typeface="Hiragino Sans"/>
                        </a:rPr>
                        <a:t>MEO (GBP) 統合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26D64"/>
                          </a:solidFill>
                          <a:ea typeface="Hiragino Sans"/>
                          <a:latin typeface="Hiragino Sans"/>
                        </a:rPr>
                        <a:t>◎ 同一ベンダーで完結</a:t>
                      </a:r>
                    </a:p>
                  </a:txBody>
                  <a:tcPr marL="109728" marR="109728" marT="73152" marB="73152" anchor="ctr">
                    <a:solidFill>
                      <a:srgbClr val="E8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× 別ベンダーが必要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404040"/>
                          </a:solidFill>
                          <a:ea typeface="Hiragino Sans"/>
                          <a:latin typeface="Hiragino Sans"/>
                        </a:rPr>
                        <a:t>△ ツール契約と運用が別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67963" y="2194560"/>
            <a:ext cx="2727883" cy="3474720"/>
          </a:xfrm>
          <a:prstGeom prst="rect">
            <a:avLst/>
          </a:prstGeom>
          <a:noFill/>
          <a:ln w="38100">
            <a:solidFill>
              <a:srgbClr val="F09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ea typeface="Hiragino Sans"/>
                <a:latin typeface="Hiragino Sans"/>
              </a:rPr>
              <a:t>※「◎ / ○ / △ / ×」は当社調べの一般的傾向であり、個別の代行会社・FC 本部体制によって差があります。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5120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ea typeface="Hiragino Sans"/>
                <a:latin typeface="Hiragino Sans"/>
              </a:rPr>
              <a:t>「本部の手間が、確実に減った」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73152" cy="3703320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3317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09D01"/>
                </a:solidFill>
                <a:ea typeface="Helvetica Neue"/>
                <a:latin typeface="Helvetica Neue"/>
              </a:rPr>
              <a:t>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2560320"/>
            <a:ext cx="1371600" cy="365760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7047" y="2560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26D64"/>
                </a:solidFill>
                <a:ea typeface="Helvetica Neue"/>
                <a:latin typeface="Helvetica Neue"/>
              </a:rPr>
              <a:t>SERVICE +PLUS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4495647" cy="1783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 i="1">
                <a:solidFill>
                  <a:srgbClr val="333333"/>
                </a:solidFill>
                <a:ea typeface="Hiragino Sans"/>
                <a:latin typeface="Hiragino Sans"/>
              </a:rPr>
              <a:t>新店 12 店舗を 6ヶ月で開けるなか、認知づくりは +PLUS に完全に任せました。本部の販促部は最終承認だけで、現場との折衝は発生しません。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5212079"/>
            <a:ext cx="548640" cy="27432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4495647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26D64"/>
                </a:solidFill>
                <a:ea typeface="Hiragino Sans"/>
                <a:latin typeface="Hiragino Sans"/>
              </a:rPr>
              <a:t>— 飲食 FC 本部 A 社</a:t>
            </a: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   /   販促部長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5272887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2194560"/>
            <a:ext cx="73152" cy="3703320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23317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09D01"/>
                </a:solidFill>
                <a:ea typeface="Helvetica Neue"/>
                <a:latin typeface="Helvetica Neue"/>
              </a:rPr>
              <a:t>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05695" y="2560320"/>
            <a:ext cx="1371600" cy="365760"/>
          </a:xfrm>
          <a:prstGeom prst="roundRect">
            <a:avLst/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5695" y="2560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26D64"/>
                </a:solidFill>
                <a:ea typeface="Helvetica Neue"/>
                <a:latin typeface="Helvetica Neue"/>
              </a:rPr>
              <a:t>SERVICE GBP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5927" y="3429000"/>
            <a:ext cx="4495647" cy="1783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 i="1">
                <a:solidFill>
                  <a:srgbClr val="333333"/>
                </a:solidFill>
                <a:ea typeface="Hiragino Sans"/>
                <a:latin typeface="Hiragino Sans"/>
              </a:rPr>
              <a:t>GBP の口コミ返信が滞っていた 80 店舗を一括で巻き取ってもらい、半年で平均評価が 0.3 上がりました。本部 1 名で見られる体制になっています。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5927" y="5212079"/>
            <a:ext cx="548640" cy="27432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5927" y="5349240"/>
            <a:ext cx="4495647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26D64"/>
                </a:solidFill>
                <a:ea typeface="Hiragino Sans"/>
                <a:latin typeface="Hiragino Sans"/>
              </a:rPr>
              <a:t>— 飲食 FC 本部 B 社</a:t>
            </a:r>
            <a:r>
              <a:rPr sz="1300" b="0" i="0">
                <a:solidFill>
                  <a:srgbClr val="404040"/>
                </a:solidFill>
                <a:ea typeface="Hiragino Sans"/>
                <a:latin typeface="Hiragino Sans"/>
              </a:rPr>
              <a:t>   /   営業企画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8076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ea typeface="Hiragino Sans"/>
                <a:latin typeface="Hiragino Sans"/>
              </a:rPr>
              <a:t>※ 掲載企業の許諾を得たコメントに差し替えてご提示します。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09D01"/>
                </a:solidFill>
                <a:ea typeface="Helvetica Neue"/>
                <a:latin typeface="Helvetica Neue"/>
              </a:rPr>
              <a:t>COMPANY  / 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0392"/>
            <a:ext cx="411480" cy="45720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333333"/>
                </a:solidFill>
                <a:ea typeface="Hiragino Sans"/>
                <a:latin typeface="Hiragino Sans"/>
              </a:rPr>
              <a:t>株式会社UNI'SON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126D64"/>
                </a:solidFill>
                <a:ea typeface="Hiragino Sans"/>
                <a:latin typeface="Hiragino Sans"/>
              </a:rPr>
              <a:t>「いいもの」で世界がつながる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905634" cy="59435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1554480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126D64"/>
                </a:solidFill>
                <a:ea typeface="Hiragino Sans"/>
                <a:latin typeface="Hiragino Sans"/>
              </a:rPr>
              <a:t>商号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423160"/>
            <a:ext cx="13716" cy="411479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2331720"/>
            <a:ext cx="3802514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1554480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126D64"/>
                </a:solidFill>
                <a:ea typeface="Hiragino Sans"/>
                <a:latin typeface="Hiragino Sans"/>
              </a:rPr>
              <a:t>所在地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3063240"/>
            <a:ext cx="13716" cy="411479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2971800"/>
            <a:ext cx="3802514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04040"/>
                </a:solidFill>
                <a:ea typeface="Hiragino Sans"/>
                <a:latin typeface="Hiragino Sans"/>
              </a:rPr>
              <a:t>〒141-0031 東京都品川区西五反田
2-24-4 THE CROSS GOTANDA 9F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11879"/>
            <a:ext cx="5905634" cy="59435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611879"/>
            <a:ext cx="1554480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126D64"/>
                </a:solidFill>
                <a:ea typeface="Hiragino Sans"/>
                <a:latin typeface="Hiragino Sans"/>
              </a:rPr>
              <a:t>事業内容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3703320"/>
            <a:ext cx="13716" cy="411479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3611879"/>
            <a:ext cx="3802514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04040"/>
                </a:solidFill>
                <a:ea typeface="Hiragino Sans"/>
                <a:latin typeface="Hiragino Sans"/>
              </a:rPr>
              <a:t>SNS マーケティング / インフルエンサーキャスティング /
MEO 管理 / 飲食メディア運営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251959"/>
            <a:ext cx="1554480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126D64"/>
                </a:solidFill>
                <a:ea typeface="Hiragino Sans"/>
                <a:latin typeface="Hiragino Sans"/>
              </a:rPr>
              <a:t>主要サービス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4343399"/>
            <a:ext cx="13716" cy="411479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39" y="4251959"/>
            <a:ext cx="3802514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04040"/>
                </a:solidFill>
                <a:ea typeface="Hiragino Sans"/>
                <a:latin typeface="Hiragino Sans"/>
              </a:rPr>
              <a:t>グルメ大学+PLUS  /  グルメ大学Consulting  /
グルメ大学GBP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92040"/>
            <a:ext cx="5905634" cy="59435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892040"/>
            <a:ext cx="1554480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126D64"/>
                </a:solidFill>
                <a:ea typeface="Hiragino Sans"/>
                <a:latin typeface="Hiragino Sans"/>
              </a:rPr>
              <a:t>サイト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4983479"/>
            <a:ext cx="13716" cy="411479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39" y="4892040"/>
            <a:ext cx="3802514" cy="59435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04040"/>
                </a:solidFill>
                <a:ea typeface="Hiragino Sans"/>
                <a:latin typeface="Hiragino Sans"/>
              </a:rPr>
              <a:t>uni-s-on.com</a:t>
            </a:r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51560"/>
            <a:ext cx="1737360" cy="43828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911474" y="2331720"/>
            <a:ext cx="4640141" cy="3931920"/>
          </a:xfrm>
          <a:prstGeom prst="roundRect">
            <a:avLst>
              <a:gd name="adj" fmla="val 3000"/>
            </a:avLst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11474" y="2331720"/>
            <a:ext cx="4640141" cy="164592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11474" y="2414015"/>
            <a:ext cx="4640141" cy="82296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7234" y="2697479"/>
            <a:ext cx="390862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09D01"/>
                </a:solidFill>
                <a:ea typeface="Helvetica Neue"/>
                <a:latin typeface="Helvetica Neue"/>
              </a:rPr>
              <a:t>NEXT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7234" y="3063239"/>
            <a:ext cx="3908621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ea typeface="Hiragino Sans"/>
                <a:latin typeface="Hiragino Sans"/>
              </a:rPr>
              <a:t>まずは貴社の現状
ヒアリングから
(60 分・無料)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7234" y="4526279"/>
            <a:ext cx="3908621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FFFFFF"/>
                </a:solidFill>
                <a:ea typeface="Hiragino Sans"/>
                <a:latin typeface="Hiragino Sans"/>
              </a:rPr>
              <a:t>3 サービスのどれが、どのフェーズで、いくらで効くか。資料に基づくご提案までを 1 週間でお出しします。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60114" y="5303520"/>
            <a:ext cx="3542861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0114" y="5303520"/>
            <a:ext cx="354286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09D01"/>
                </a:solidFill>
                <a:ea typeface="Hiragino Sans"/>
                <a:latin typeface="Hiragino Sans"/>
              </a:rPr>
              <a:t>打ち合わせを依頼する 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7234" y="5916168"/>
            <a:ext cx="390862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ea typeface="Helvetica Neue"/>
                <a:latin typeface="Helvetica Neue"/>
              </a:rPr>
              <a:t>お問い合わせ:  uni-s-on.com/contact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1295" y="6492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ea typeface="Hiragino Sans"/>
                <a:latin typeface="Hiragino Sans"/>
              </a:rPr>
              <a:t>株式会社UNI'SON  |  uni-s-on.com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