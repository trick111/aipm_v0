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株式会社UNI'SON | uni-s-on.com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kutanaka/aipm_v0/Flow/202606/2026-06-02/ユニゾン社/assets/unison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2788920"/>
            <a:ext cx="548640" cy="73152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971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多店舗チェーンの集客を、ひとまとめに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飲食 FC 本部のための SNS × MEO 統合パートナー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UNI'SON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1384280" y="886968"/>
            <a:ext cx="41148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6263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For Multi-store FC Headquarters |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株式会社UNI'SON  |  uni-s-on.com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  / 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「現場任せ」の集客、もう限界が見えていませんか？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FC 本部だけが抱え込む 3 つの慢性的な悩み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5148" y="2377440"/>
            <a:ext cx="3611880" cy="37490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3009748" y="25146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7297A9">
                    <a:alpha val="30000"/>
                  </a:srgbClr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60908" y="2743200"/>
            <a:ext cx="822960" cy="822960"/>
          </a:xfrm>
          <a:prstGeom prst="ellipse">
            <a:avLst/>
          </a:prstGeom>
          <a:solidFill>
            <a:srgbClr val="126D64"/>
          </a:solidFill>
          <a:ln/>
        </p:spPr>
      </p:sp>
      <p:sp>
        <p:nvSpPr>
          <p:cNvPr id="8" name="Text 6"/>
          <p:cNvSpPr/>
          <p:nvPr/>
        </p:nvSpPr>
        <p:spPr>
          <a:xfrm>
            <a:off x="860908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◉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0908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新店オープン時の「最初の3ヶ月」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0908" y="4892040"/>
            <a:ext cx="45720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1" name="Text 9"/>
          <p:cNvSpPr/>
          <p:nvPr/>
        </p:nvSpPr>
        <p:spPr>
          <a:xfrm>
            <a:off x="860908" y="50749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グランドオープン直後の認知不足。SNS の自然流入を待つには遅すぎる。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89908" y="2377440"/>
            <a:ext cx="3611880" cy="37490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6804508" y="25146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7297A9">
                    <a:alpha val="30000"/>
                  </a:srgbClr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4655668" y="2743200"/>
            <a:ext cx="822960" cy="822960"/>
          </a:xfrm>
          <a:prstGeom prst="ellipse">
            <a:avLst/>
          </a:prstGeom>
          <a:solidFill>
            <a:srgbClr val="126D64"/>
          </a:solidFill>
          <a:ln/>
        </p:spPr>
      </p:sp>
      <p:sp>
        <p:nvSpPr>
          <p:cNvPr id="15" name="Text 13"/>
          <p:cNvSpPr/>
          <p:nvPr/>
        </p:nvSpPr>
        <p:spPr>
          <a:xfrm>
            <a:off x="4655668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55668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店舗ごとに品質がバラつく SNS 運用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55668" y="4892040"/>
            <a:ext cx="45720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8" name="Text 16"/>
          <p:cNvSpPr/>
          <p:nvPr/>
        </p:nvSpPr>
        <p:spPr>
          <a:xfrm>
            <a:off x="4655668" y="50749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個店オーナーに任せた SNS は更新頻度・トーン・成果が揃わず、本部が消耗する。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84668" y="2377440"/>
            <a:ext cx="3611880" cy="37490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10599268" y="25146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7297A9">
                    <a:alpha val="30000"/>
                  </a:srgbClr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8450428" y="2743200"/>
            <a:ext cx="822960" cy="822960"/>
          </a:xfrm>
          <a:prstGeom prst="ellipse">
            <a:avLst/>
          </a:prstGeom>
          <a:solidFill>
            <a:srgbClr val="126D64"/>
          </a:solidFill>
          <a:ln/>
        </p:spPr>
      </p:sp>
      <p:sp>
        <p:nvSpPr>
          <p:cNvPr id="22" name="Text 20"/>
          <p:cNvSpPr/>
          <p:nvPr/>
        </p:nvSpPr>
        <p:spPr>
          <a:xfrm>
            <a:off x="8450428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◈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450428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 店舗の Google マップを誰が管理する？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450428" y="4892040"/>
            <a:ext cx="45720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25" name="Text 23"/>
          <p:cNvSpPr/>
          <p:nvPr/>
        </p:nvSpPr>
        <p:spPr>
          <a:xfrm>
            <a:off x="8450428" y="50749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GBP の写真・情報・口コミ返信が止まり、検索順位がじりじり下落。本部に手が回らない。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つのサービスで FC 本部の集客を巻き取る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認知 → 運用 → 検索流入を、ひとつのチームで一気通貫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5148" y="228600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5148" y="2286000"/>
            <a:ext cx="3611880" cy="109728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7" name="Text 5"/>
          <p:cNvSpPr/>
          <p:nvPr/>
        </p:nvSpPr>
        <p:spPr>
          <a:xfrm>
            <a:off x="860908" y="2651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2026768" y="4069080"/>
            <a:ext cx="548640" cy="3657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Text 7"/>
          <p:cNvSpPr/>
          <p:nvPr/>
        </p:nvSpPr>
        <p:spPr>
          <a:xfrm>
            <a:off x="769468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グルメ大学+PLUS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0908" y="4892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インフルエンサーキャスティングで、新店の認知を一気に立ち上げる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89908" y="228600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9908" y="2286000"/>
            <a:ext cx="3611880" cy="109728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13" name="Text 11"/>
          <p:cNvSpPr/>
          <p:nvPr/>
        </p:nvSpPr>
        <p:spPr>
          <a:xfrm>
            <a:off x="4655668" y="2651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5821528" y="4069080"/>
            <a:ext cx="548640" cy="3657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64228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グルメ大学Consulting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55668" y="4892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全店舗の TikTok / Instagram を、ブランド統一のまま運用代行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84668" y="228600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84668" y="2286000"/>
            <a:ext cx="3611880" cy="109728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19" name="Text 17"/>
          <p:cNvSpPr/>
          <p:nvPr/>
        </p:nvSpPr>
        <p:spPr>
          <a:xfrm>
            <a:off x="8450428" y="2651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6400" dirty="0"/>
          </a:p>
        </p:txBody>
      </p:sp>
      <p:sp>
        <p:nvSpPr>
          <p:cNvPr id="20" name="Shape 18"/>
          <p:cNvSpPr/>
          <p:nvPr/>
        </p:nvSpPr>
        <p:spPr>
          <a:xfrm>
            <a:off x="9616288" y="4069080"/>
            <a:ext cx="548640" cy="3657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58988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グルメ大学GBP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50428" y="4892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多店舗の Google マップを、本部から一括で正しく保つ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すべて飲食特化メディア「グルメ大学」運営で築いた知見・人脈をベースに提供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kutanaka/aipm_v0/Flow/202606/2026-06-02/ユニゾン社/assets/unison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6709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7297A9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44827" y="21945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09D0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44827" y="2194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3ヶ月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74320" y="3840480"/>
            <a:ext cx="3718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新店オープン期の認知獲得を圧縮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5852160"/>
            <a:ext cx="37184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撮影前にインフルエンサーと企画を擦り合わせ → 高い再現性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78573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78573" y="868680"/>
            <a:ext cx="7055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グルメ大学+PLUS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678573" y="1508760"/>
            <a:ext cx="7055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297A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インフルエンサーキャスティング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678573" y="2057400"/>
            <a:ext cx="548640" cy="45720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2" name="Text 9"/>
          <p:cNvSpPr/>
          <p:nvPr/>
        </p:nvSpPr>
        <p:spPr>
          <a:xfrm>
            <a:off x="4678573" y="2286000"/>
            <a:ext cx="70559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メガインフルエンサーを中心に、業態と相性の合う発信者を選定。グルメ大学運営で築いた人脈から、本部側で 1 件ずつ営業せず、本部担当者は最終 GO だけ。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78573" y="3840480"/>
            <a:ext cx="7055922" cy="457200"/>
          </a:xfrm>
          <a:prstGeom prst="rect">
            <a:avLst/>
          </a:prstGeom>
          <a:solidFill>
            <a:srgbClr val="E8EEF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78573" y="3840480"/>
            <a:ext cx="91440" cy="457200"/>
          </a:xfrm>
          <a:prstGeom prst="rect">
            <a:avLst/>
          </a:prstGeom>
          <a:solidFill>
            <a:srgbClr val="126D64"/>
          </a:solidFill>
          <a:ln/>
        </p:spPr>
      </p:sp>
      <p:sp>
        <p:nvSpPr>
          <p:cNvPr id="15" name="Text 12"/>
          <p:cNvSpPr/>
          <p:nvPr/>
        </p:nvSpPr>
        <p:spPr>
          <a:xfrm>
            <a:off x="4907173" y="3840480"/>
            <a:ext cx="6827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こんな本部に効く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78573" y="4526280"/>
            <a:ext cx="3436521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7" name="Shape 14"/>
          <p:cNvSpPr/>
          <p:nvPr/>
        </p:nvSpPr>
        <p:spPr>
          <a:xfrm>
            <a:off x="4815733" y="4663440"/>
            <a:ext cx="274320" cy="274320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18" name="Text 15"/>
          <p:cNvSpPr/>
          <p:nvPr/>
        </p:nvSpPr>
        <p:spPr>
          <a:xfrm>
            <a:off x="4815733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81493" y="4526280"/>
            <a:ext cx="28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グランドオープン期の認知獲得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97974" y="4526280"/>
            <a:ext cx="3436521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1" name="Shape 18"/>
          <p:cNvSpPr/>
          <p:nvPr/>
        </p:nvSpPr>
        <p:spPr>
          <a:xfrm>
            <a:off x="8435134" y="4663440"/>
            <a:ext cx="274320" cy="274320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22" name="Text 19"/>
          <p:cNvSpPr/>
          <p:nvPr/>
        </p:nvSpPr>
        <p:spPr>
          <a:xfrm>
            <a:off x="8435134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00894" y="4526280"/>
            <a:ext cx="28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季節キャンペーン / 新商品の一斉告知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678573" y="5257800"/>
            <a:ext cx="3436521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15733" y="5394960"/>
            <a:ext cx="274320" cy="274320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26" name="Text 23"/>
          <p:cNvSpPr/>
          <p:nvPr/>
        </p:nvSpPr>
        <p:spPr>
          <a:xfrm>
            <a:off x="4815733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181493" y="5257800"/>
            <a:ext cx="28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既存店リブランド後の再認知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297974" y="5257800"/>
            <a:ext cx="3436521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8435134" y="5394960"/>
            <a:ext cx="274320" cy="274320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30" name="Text 27"/>
          <p:cNvSpPr/>
          <p:nvPr/>
        </p:nvSpPr>
        <p:spPr>
          <a:xfrm>
            <a:off x="8435134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800894" y="5257800"/>
            <a:ext cx="28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多店舗一斉投入で話題化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 と Instagram は、役割が違う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グルメ大学Consulting は両方を本部レベルで標準化します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40233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5176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「知る」を作る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05840" y="4160520"/>
            <a:ext cx="54864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フォロワー外への到達設計。バズの再現性を狙う構成と、トレンド音源の組み込みを本部レベルで標準化。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5532120"/>
            <a:ext cx="4617720" cy="50292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532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重視指標  </a:t>
            </a:r>
            <a:pPr indent="0" marL="0">
              <a:buNone/>
            </a:pPr>
            <a:r>
              <a:rPr lang="en-US" sz="14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視聴完了率  /  シェア数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2375" y="2286000"/>
            <a:ext cx="5349240" cy="4023360"/>
          </a:xfrm>
          <a:prstGeom prst="rect">
            <a:avLst/>
          </a:prstGeom>
          <a:solidFill>
            <a:srgbClr val="E8EEF1"/>
          </a:solidFill>
          <a:ln/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8135" y="26517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297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8135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8135" y="3383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「ファン」を作る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568135" y="4160520"/>
            <a:ext cx="548640" cy="36576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18" name="Text 16"/>
          <p:cNvSpPr/>
          <p:nvPr/>
        </p:nvSpPr>
        <p:spPr>
          <a:xfrm>
            <a:off x="6568135" y="43434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訪問前の世界観確認とリピーター化。フィード・リール・ストーリーズを役割分担し、店舗トーンを保ったまま更新。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68135" y="5532120"/>
            <a:ext cx="4617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05295" y="5532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重視指標  </a:t>
            </a:r>
            <a:pPr indent="0" marL="0">
              <a:buNone/>
            </a:pPr>
            <a:r>
              <a:rPr lang="en-US" sz="14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保存数  /  プロフィール遷移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6537960"/>
            <a:ext cx="10911535" cy="502920"/>
          </a:xfrm>
          <a:prstGeom prst="rect">
            <a:avLst/>
          </a:prstGeom>
          <a:solidFill>
            <a:srgbClr val="126D6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65379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「お客様は TikTok で知って、Instagram でファンになる」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</a:t>
            </a:r>
            <a:pPr algn="ctr" indent="0" marL="0">
              <a:buNone/>
            </a:pPr>
            <a:r>
              <a:rPr lang="en-US" sz="1350" dirty="0">
                <a:solidFill>
                  <a:srgbClr val="DCE7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この導線を本部の運用標準にします。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31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 店舗の Google マップを、本部のダッシュボードから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48640" cy="45720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6431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GBP の写真・営業時間・特別営業日・口コミ返信を、ブランド統一のまま一括更新。新規集客の入口である Google マップを、本部の手の届く資産に変える。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2021784" cy="1783080"/>
          </a:xfrm>
          <a:prstGeom prst="rect">
            <a:avLst/>
          </a:prstGeom>
          <a:solidFill>
            <a:srgbClr val="E8EEF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4297680"/>
            <a:ext cx="2021784" cy="73152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2021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838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同時管理可能店舗数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44744" y="4297680"/>
            <a:ext cx="2021784" cy="1783080"/>
          </a:xfrm>
          <a:prstGeom prst="rect">
            <a:avLst/>
          </a:prstGeom>
          <a:solidFill>
            <a:srgbClr val="E8EEF1"/>
          </a:solidFill>
          <a:ln/>
        </p:spPr>
      </p:sp>
      <p:sp>
        <p:nvSpPr>
          <p:cNvPr id="11" name="Shape 9"/>
          <p:cNvSpPr/>
          <p:nvPr/>
        </p:nvSpPr>
        <p:spPr>
          <a:xfrm>
            <a:off x="2844744" y="4297680"/>
            <a:ext cx="2021784" cy="73152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2" name="Text 10"/>
          <p:cNvSpPr/>
          <p:nvPr/>
        </p:nvSpPr>
        <p:spPr>
          <a:xfrm>
            <a:off x="2844744" y="4526280"/>
            <a:ext cx="2021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分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936184" y="5486400"/>
            <a:ext cx="1838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店舗あたり週次運用工数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9408" y="4297680"/>
            <a:ext cx="2021784" cy="1783080"/>
          </a:xfrm>
          <a:prstGeom prst="rect">
            <a:avLst/>
          </a:prstGeom>
          <a:solidFill>
            <a:srgbClr val="E8EEF1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9408" y="4297680"/>
            <a:ext cx="2021784" cy="73152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6" name="Text 14"/>
          <p:cNvSpPr/>
          <p:nvPr/>
        </p:nvSpPr>
        <p:spPr>
          <a:xfrm>
            <a:off x="5049408" y="4526280"/>
            <a:ext cx="2021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3x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140848" y="5486400"/>
            <a:ext cx="1838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平均 MEO 表示増加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643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業界一般指標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88312" y="868680"/>
            <a:ext cx="4663303" cy="50749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88312" y="868680"/>
            <a:ext cx="4663303" cy="640080"/>
          </a:xfrm>
          <a:prstGeom prst="rect">
            <a:avLst/>
          </a:prstGeom>
          <a:solidFill>
            <a:srgbClr val="126D64"/>
          </a:solidFill>
          <a:ln/>
        </p:spPr>
      </p:sp>
      <p:sp>
        <p:nvSpPr>
          <p:cNvPr id="21" name="Text 19"/>
          <p:cNvSpPr/>
          <p:nvPr/>
        </p:nvSpPr>
        <p:spPr>
          <a:xfrm>
            <a:off x="7162632" y="868680"/>
            <a:ext cx="41146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主要機能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62632" y="1930146"/>
            <a:ext cx="292608" cy="292608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23" name="Text 21"/>
          <p:cNvSpPr/>
          <p:nvPr/>
        </p:nvSpPr>
        <p:spPr>
          <a:xfrm>
            <a:off x="7162632" y="1930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74112" y="1737360"/>
            <a:ext cx="374890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多店舗一括投稿（写真 / 営業情報 / 投稿）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62632" y="2406396"/>
            <a:ext cx="4114663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7162632" y="2608326"/>
            <a:ext cx="292608" cy="292608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27" name="Text 25"/>
          <p:cNvSpPr/>
          <p:nvPr/>
        </p:nvSpPr>
        <p:spPr>
          <a:xfrm>
            <a:off x="7162632" y="26083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74112" y="2415540"/>
            <a:ext cx="374890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口コミ自動振り分け &amp; 返信テンプレート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62632" y="3084576"/>
            <a:ext cx="4114663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7162632" y="3286506"/>
            <a:ext cx="292608" cy="292608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31" name="Text 29"/>
          <p:cNvSpPr/>
          <p:nvPr/>
        </p:nvSpPr>
        <p:spPr>
          <a:xfrm>
            <a:off x="7162632" y="32865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74112" y="3093720"/>
            <a:ext cx="374890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順位モニタリング（キーワード / エリア別）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62632" y="3762756"/>
            <a:ext cx="4114663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2"/>
          <p:cNvSpPr/>
          <p:nvPr/>
        </p:nvSpPr>
        <p:spPr>
          <a:xfrm>
            <a:off x="7162632" y="3964686"/>
            <a:ext cx="292608" cy="292608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35" name="Text 33"/>
          <p:cNvSpPr/>
          <p:nvPr/>
        </p:nvSpPr>
        <p:spPr>
          <a:xfrm>
            <a:off x="7162632" y="39646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74112" y="3771900"/>
            <a:ext cx="374890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競合店比較レポート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62632" y="4440936"/>
            <a:ext cx="4114663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7162632" y="4642866"/>
            <a:ext cx="292608" cy="292608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39" name="Text 37"/>
          <p:cNvSpPr/>
          <p:nvPr/>
        </p:nvSpPr>
        <p:spPr>
          <a:xfrm>
            <a:off x="7162632" y="46428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574112" y="4450080"/>
            <a:ext cx="374890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写真品質チェック（AI スコア）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62632" y="5119116"/>
            <a:ext cx="4114663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Shape 40"/>
          <p:cNvSpPr/>
          <p:nvPr/>
        </p:nvSpPr>
        <p:spPr>
          <a:xfrm>
            <a:off x="7162632" y="5321046"/>
            <a:ext cx="292608" cy="292608"/>
          </a:xfrm>
          <a:prstGeom prst="ellipse">
            <a:avLst/>
          </a:prstGeom>
          <a:solidFill>
            <a:srgbClr val="F09D01"/>
          </a:solidFill>
          <a:ln/>
        </p:spPr>
      </p:sp>
      <p:sp>
        <p:nvSpPr>
          <p:cNvPr id="43" name="Text 41"/>
          <p:cNvSpPr/>
          <p:nvPr/>
        </p:nvSpPr>
        <p:spPr>
          <a:xfrm>
            <a:off x="7162632" y="53210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74112" y="5128260"/>
            <a:ext cx="374890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CSV 一括インポート / エクスポート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フェーズに合わせて、必要なものから始められます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既存店だけ・新店だけの部分採用も可。本部の優先課題から逆算してご提案します。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848" y="2286000"/>
            <a:ext cx="3291840" cy="3657600"/>
          </a:xfrm>
          <a:prstGeom prst="rect">
            <a:avLst/>
          </a:prstGeom>
          <a:solidFill>
            <a:srgbClr val="E8EEF1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0848" y="2286000"/>
            <a:ext cx="3291840" cy="548640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7" name="Text 5"/>
          <p:cNvSpPr/>
          <p:nvPr/>
        </p:nvSpPr>
        <p:spPr>
          <a:xfrm>
            <a:off x="563728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1  ·  OPENING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3728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新店オープン期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3728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0–3ヶ月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8" y="4069080"/>
            <a:ext cx="2834640" cy="365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563728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推奨サービス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5168" y="45720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09D01"/>
          </a:solidFill>
          <a:ln/>
        </p:spPr>
      </p:sp>
      <p:sp>
        <p:nvSpPr>
          <p:cNvPr id="13" name="Text 11"/>
          <p:cNvSpPr/>
          <p:nvPr/>
        </p:nvSpPr>
        <p:spPr>
          <a:xfrm>
            <a:off x="655168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+PLUS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3728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KPI 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3728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認知獲得 / 初動売上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tTriangl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449928" y="2286000"/>
            <a:ext cx="3291840" cy="3657600"/>
          </a:xfrm>
          <a:prstGeom prst="rect">
            <a:avLst/>
          </a:prstGeom>
          <a:solidFill>
            <a:srgbClr val="E8EEF1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49928" y="2286000"/>
            <a:ext cx="3291840" cy="548640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19" name="Text 17"/>
          <p:cNvSpPr/>
          <p:nvPr/>
        </p:nvSpPr>
        <p:spPr>
          <a:xfrm>
            <a:off x="4632808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2  ·  OPERATION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32808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定常運営期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32808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3–12ヶ月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78528" y="4069080"/>
            <a:ext cx="2834640" cy="365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4632808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推奨サービス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24248" y="45720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09D01"/>
          </a:solidFill>
          <a:ln/>
        </p:spPr>
      </p:sp>
      <p:sp>
        <p:nvSpPr>
          <p:cNvPr id="25" name="Text 23"/>
          <p:cNvSpPr/>
          <p:nvPr/>
        </p:nvSpPr>
        <p:spPr>
          <a:xfrm>
            <a:off x="4724248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Consulting + GBP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2808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KPI 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32808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LTV / リピート率 / 検索順位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rtTriangle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8519008" y="2286000"/>
            <a:ext cx="3291840" cy="3657600"/>
          </a:xfrm>
          <a:prstGeom prst="rect">
            <a:avLst/>
          </a:prstGeom>
          <a:solidFill>
            <a:srgbClr val="E8EEF1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19008" y="2286000"/>
            <a:ext cx="3291840" cy="548640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31" name="Text 29"/>
          <p:cNvSpPr/>
          <p:nvPr/>
        </p:nvSpPr>
        <p:spPr>
          <a:xfrm>
            <a:off x="8701888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3  ·  EXPANSION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01888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多店舗拡大期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01888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12ヶ月+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747608" y="4069080"/>
            <a:ext cx="2834640" cy="365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8701888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推奨サービス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93328" y="45720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09D01"/>
          </a:solidFill>
          <a:ln/>
        </p:spPr>
      </p:sp>
      <p:sp>
        <p:nvSpPr>
          <p:cNvPr id="37" name="Text 35"/>
          <p:cNvSpPr/>
          <p:nvPr/>
        </p:nvSpPr>
        <p:spPr>
          <a:xfrm>
            <a:off x="8793328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Consulting + GBP +PLUS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01888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KPI 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01888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全店標準化 / 本部工数削減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09848" y="3749040"/>
            <a:ext cx="777240" cy="731520"/>
          </a:xfrm>
          <a:prstGeom prst="rightArrow">
            <a:avLst/>
          </a:prstGeom>
          <a:solidFill>
            <a:srgbClr val="F09D01"/>
          </a:solidFill>
          <a:ln/>
        </p:spPr>
      </p:sp>
      <p:sp>
        <p:nvSpPr>
          <p:cNvPr id="41" name="Shape 39"/>
          <p:cNvSpPr/>
          <p:nvPr/>
        </p:nvSpPr>
        <p:spPr>
          <a:xfrm>
            <a:off x="7878928" y="3749040"/>
            <a:ext cx="777240" cy="731520"/>
          </a:xfrm>
          <a:prstGeom prst="rightArrow">
            <a:avLst/>
          </a:prstGeom>
          <a:solidFill>
            <a:srgbClr val="F09D01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優先順位は本部とすり合わせ。3 サービスのうち、必要なものだけからスタートできます。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UNI'SON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「飲食特化 × 多店舗対応」を両立できるのは限られている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402336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468880"/>
                <a:gridCol w="249631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比較軸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D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UNI'SON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D0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一般 SNS 運用代行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D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本部内製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D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飲食業界の知見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飲食特化メディア運営の実績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業界横断・浅い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○ 自社業態は深い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インフルエンサー人脈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メガインフル中心の独自ルート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仲介経由でコスト高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× 個別営業が必要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多店舗ガバナンス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本部ダッシュボードで一括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× 店舗別に都度依頼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本部リソース過多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MEO (GBP) 統合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同一ベンダーで完結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× 別ベンダーが必要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ツール契約と運用が別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383280" y="1874520"/>
            <a:ext cx="3200400" cy="382219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09D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83280" y="1508760"/>
            <a:ext cx="3200400" cy="320040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7" name="Text 4"/>
          <p:cNvSpPr/>
          <p:nvPr/>
        </p:nvSpPr>
        <p:spPr>
          <a:xfrm>
            <a:off x="33832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※「◎/○/△/×」は当社調べの一般的傾向であり、個別の代行会社・FC 本部体制によって差があります。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「本部の手間が、確実に減った」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先行導入いただいた FC 本部からのコメント（抜粋）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91440" cy="4023360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9D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800" dirty="0"/>
          </a:p>
        </p:txBody>
      </p:sp>
      <p:sp>
        <p:nvSpPr>
          <p:cNvPr id="8" name="Shape 6"/>
          <p:cNvSpPr/>
          <p:nvPr/>
        </p:nvSpPr>
        <p:spPr>
          <a:xfrm>
            <a:off x="4160520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EEF1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 01 · +PLUS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i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新店 12 店舗を 6ヶ月で開けるなか、認知づくりは +PLUS に完全に任せました。本部の販促部は最終承認だけで、現場との折衝は発生しません。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5715000"/>
            <a:ext cx="45720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852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297A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飲食 FC 本部 A 社 / 販促部長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2375" y="233172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2375" y="2331720"/>
            <a:ext cx="91440" cy="4023360"/>
          </a:xfrm>
          <a:prstGeom prst="rect">
            <a:avLst/>
          </a:prstGeom>
          <a:solidFill>
            <a:srgbClr val="7297A9"/>
          </a:solidFill>
          <a:ln/>
        </p:spPr>
      </p:sp>
      <p:sp>
        <p:nvSpPr>
          <p:cNvPr id="15" name="Text 13"/>
          <p:cNvSpPr/>
          <p:nvPr/>
        </p:nvSpPr>
        <p:spPr>
          <a:xfrm>
            <a:off x="6522415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9D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800" dirty="0"/>
          </a:p>
        </p:txBody>
      </p:sp>
      <p:sp>
        <p:nvSpPr>
          <p:cNvPr id="16" name="Shape 14"/>
          <p:cNvSpPr/>
          <p:nvPr/>
        </p:nvSpPr>
        <p:spPr>
          <a:xfrm>
            <a:off x="9722815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EEF1"/>
          </a:solidFill>
          <a:ln/>
        </p:spPr>
      </p:sp>
      <p:sp>
        <p:nvSpPr>
          <p:cNvPr id="17" name="Text 15"/>
          <p:cNvSpPr/>
          <p:nvPr/>
        </p:nvSpPr>
        <p:spPr>
          <a:xfrm>
            <a:off x="9722815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 03 · GBP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3855" y="356616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i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GBP の口コミ返信が滞っていた 80 店舗を一括で巻き取ってもらい、半年で平均評価が 0.3 上がりました。本部 1 名で見られる体制になっています。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13855" y="5715000"/>
            <a:ext cx="45720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20" name="Text 18"/>
          <p:cNvSpPr/>
          <p:nvPr/>
        </p:nvSpPr>
        <p:spPr>
          <a:xfrm>
            <a:off x="6613855" y="5852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297A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飲食 FC 本部 B 社 / 営業企画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040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掲載企業の許諾を得たコメントに差し替えてご提示します。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株式会社UNI'SON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26D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「いいもの」で世界がつながる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6522552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48766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商号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株式会社UNI'SON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所在地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〒141-0031 東京都品川区西五反田 2-24-4 THE CROSS GOTANDA 9F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事業内容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SNS マーケティング / インフルエンサーキャスティング / MEO 管理 / 飲食メディア運営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主要サービス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グルメ大学+PLUS / グルメ大学Consulting / グルメ大学GBP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6D6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サイト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uni-s-on.com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96872" y="2331720"/>
            <a:ext cx="4754743" cy="3657600"/>
          </a:xfrm>
          <a:prstGeom prst="roundRect">
            <a:avLst>
              <a:gd name="adj" fmla="val 3000"/>
            </a:avLst>
          </a:prstGeom>
          <a:solidFill>
            <a:srgbClr val="7297A9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16912" y="2651760"/>
            <a:ext cx="457200" cy="45720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8" name="Text 5"/>
          <p:cNvSpPr/>
          <p:nvPr/>
        </p:nvSpPr>
        <p:spPr>
          <a:xfrm>
            <a:off x="7116912" y="2743200"/>
            <a:ext cx="41146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16912" y="3108960"/>
            <a:ext cx="41146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まずは貴社の現状ヒアリングから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（60 分・無料）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116912" y="4389120"/>
            <a:ext cx="548640" cy="36576"/>
          </a:xfrm>
          <a:prstGeom prst="rect">
            <a:avLst/>
          </a:prstGeom>
          <a:solidFill>
            <a:srgbClr val="F09D01"/>
          </a:solidFill>
          <a:ln/>
        </p:spPr>
      </p:sp>
      <p:sp>
        <p:nvSpPr>
          <p:cNvPr id="11" name="Text 8"/>
          <p:cNvSpPr/>
          <p:nvPr/>
        </p:nvSpPr>
        <p:spPr>
          <a:xfrm>
            <a:off x="7116912" y="4572000"/>
            <a:ext cx="41146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サービスのどれが、どのフェーズで、いくらで効くか。資料に基づくご提案までを 1 週間でお出しします。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16912" y="4846320"/>
            <a:ext cx="4114663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16912" y="4846320"/>
            <a:ext cx="41146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9D0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打ち合わせを依頼する  →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16912" y="5577840"/>
            <a:ext cx="4114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お問い合わせ: uni-s-on.com/contact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UNI'SON 多店舗 FC 本部向け営業資料</dc:title>
  <dc:subject>PptxGenJS Presentation</dc:subject>
  <dc:creator>株式会社UNI'SON</dc:creator>
  <cp:lastModifiedBy>株式会社UNI'SON</cp:lastModifiedBy>
  <cp:revision>1</cp:revision>
  <dcterms:created xsi:type="dcterms:W3CDTF">2026-06-02T04:07:22Z</dcterms:created>
  <dcterms:modified xsi:type="dcterms:W3CDTF">2026-06-02T04:07:22Z</dcterms:modified>
</cp:coreProperties>
</file>