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228600" cy="502920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2C3E50"/>
                </a:solidFill>
                <a:ea typeface="Hiragino Sans"/>
                <a:latin typeface="Hiragino Sans"/>
              </a:rPr>
              <a:t>Claude Code でホームページから</a:t>
            </a:r>
          </a:p>
          <a:p>
            <a:pPr algn="l">
              <a:lnSpc>
                <a:spcPct val="120000"/>
              </a:lnSpc>
            </a:pPr>
            <a:r>
              <a:rPr sz="3200" b="1">
                <a:solidFill>
                  <a:srgbClr val="2C3E50"/>
                </a:solidFill>
                <a:ea typeface="Hiragino Sans"/>
                <a:latin typeface="Hiragino Sans"/>
              </a:rPr>
              <a:t>営業資料を作る流れ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2E5C8A"/>
                </a:solidFill>
                <a:ea typeface="Hiragino Sans"/>
                <a:latin typeface="Hiragino Sans"/>
              </a:rPr>
              <a:t>UNI'SON 社向け資料を実例に、Claude Code からの</a:t>
            </a:r>
          </a:p>
          <a:p>
            <a:pPr algn="l">
              <a:lnSpc>
                <a:spcPct val="140000"/>
              </a:lnSpc>
            </a:pPr>
            <a:r>
              <a:rPr sz="1800" b="0">
                <a:solidFill>
                  <a:srgbClr val="2E5C8A"/>
                </a:solidFill>
                <a:ea typeface="Hiragino Sans"/>
                <a:latin typeface="Hiragino Sans"/>
              </a:rPr>
              <a:t>PowerPoint 生成プロセスを解説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029200"/>
            <a:ext cx="4114800" cy="36576"/>
          </a:xfrm>
          <a:prstGeom prst="rect">
            <a:avLst/>
          </a:prstGeom>
          <a:solidFill>
            <a:srgbClr val="D5D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C757D"/>
                </a:solidFill>
                <a:ea typeface="Hiragino Sans"/>
                <a:latin typeface="Hiragino Sans"/>
              </a:rPr>
              <a:t>For 飯竹さん   |   2026-06-02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C757D"/>
                </a:solidFill>
                <a:ea typeface="Hiragino Sans"/>
                <a:latin typeface="Hiragino Sans"/>
              </a:rPr>
              <a:t>Claude Code × PowerPoint 解説 | 2026-06-02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3796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C757D"/>
                </a:solidFill>
                <a:ea typeface="Hiragino Sans"/>
                <a:latin typeface="Hiragino Sans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64592" cy="54864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8463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2E5C8A"/>
                </a:solidFill>
                <a:ea typeface="Hiragino Sans"/>
                <a:latin typeface="Hiragino Sans"/>
              </a:rPr>
              <a:t>全体イメージ — 5 ステップで作る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6400800" cy="777240"/>
          </a:xfrm>
          <a:prstGeom prst="round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6400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ea typeface="Hiragino Sans"/>
                <a:latin typeface="Hiragino Sans"/>
              </a:rPr>
              <a:t>①  指示を出す</a:t>
            </a:r>
          </a:p>
        </p:txBody>
      </p:sp>
      <p:sp>
        <p:nvSpPr>
          <p:cNvPr id="7" name="Down Arrow 6"/>
          <p:cNvSpPr/>
          <p:nvPr/>
        </p:nvSpPr>
        <p:spPr>
          <a:xfrm>
            <a:off x="3566160" y="2148840"/>
            <a:ext cx="548640" cy="274320"/>
          </a:xfrm>
          <a:prstGeom prst="downArrow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423160"/>
            <a:ext cx="6400800" cy="777240"/>
          </a:xfrm>
          <a:prstGeom prst="round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23160"/>
            <a:ext cx="6400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ea typeface="Hiragino Sans"/>
                <a:latin typeface="Hiragino Sans"/>
              </a:rPr>
              <a:t>②  情報を読み込む</a:t>
            </a:r>
          </a:p>
        </p:txBody>
      </p:sp>
      <p:sp>
        <p:nvSpPr>
          <p:cNvPr id="10" name="Down Arrow 9"/>
          <p:cNvSpPr/>
          <p:nvPr/>
        </p:nvSpPr>
        <p:spPr>
          <a:xfrm>
            <a:off x="3566160" y="3200400"/>
            <a:ext cx="548640" cy="274320"/>
          </a:xfrm>
          <a:prstGeom prst="downArrow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3474720"/>
            <a:ext cx="6400800" cy="77724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474720"/>
            <a:ext cx="6400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ea typeface="Hiragino Sans"/>
                <a:latin typeface="Hiragino Sans"/>
              </a:rPr>
              <a:t>③  構成案を作る   ★ 人間が OK/NG 判断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3566160" y="4251960"/>
            <a:ext cx="548640" cy="274320"/>
          </a:xfrm>
          <a:prstGeom prst="downArrow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4526280"/>
            <a:ext cx="6400800" cy="777240"/>
          </a:xfrm>
          <a:prstGeom prst="round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526280"/>
            <a:ext cx="6400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ea typeface="Hiragino Sans"/>
                <a:latin typeface="Hiragino Sans"/>
              </a:rPr>
              <a:t>④  スライドを作る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3566160" y="5303520"/>
            <a:ext cx="548640" cy="274320"/>
          </a:xfrm>
          <a:prstGeom prst="downArrow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5577840"/>
            <a:ext cx="6400800" cy="777240"/>
          </a:xfrm>
          <a:prstGeom prst="round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577840"/>
            <a:ext cx="6400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ea typeface="Hiragino Sans"/>
                <a:latin typeface="Hiragino Sans"/>
              </a:rPr>
              <a:t>⑤  Drive に納品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0" y="1828800"/>
            <a:ext cx="4023360" cy="32004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80960" y="1828800"/>
            <a:ext cx="109728" cy="320040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1000" y="2103120"/>
            <a:ext cx="3520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2E5C8A"/>
                </a:solidFill>
                <a:ea typeface="Hiragino Sans"/>
                <a:latin typeface="Hiragino Sans"/>
              </a:rPr>
              <a:t>ポイント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2606040"/>
            <a:ext cx="35204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2C3E50"/>
                </a:solidFill>
                <a:ea typeface="Hiragino Sans"/>
                <a:latin typeface="Hiragino Sans"/>
              </a:rPr>
              <a:t>③ と ④ を分けることで、PowerPoint を作る前に</a:t>
            </a:r>
          </a:p>
          <a:p>
            <a:pPr algn="l">
              <a:lnSpc>
                <a:spcPct val="155000"/>
              </a:lnSpc>
            </a:pPr>
            <a:r>
              <a:rPr sz="1300" b="0">
                <a:solidFill>
                  <a:srgbClr val="2C3E50"/>
                </a:solidFill>
                <a:ea typeface="Hiragino Sans"/>
                <a:latin typeface="Hiragino Sans"/>
              </a:rPr>
              <a:t>「設計レビュー」が一度入ります。</a:t>
            </a:r>
          </a:p>
          <a:p>
            <a:pPr algn="l">
              <a:lnSpc>
                <a:spcPct val="155000"/>
              </a:lnSpc>
            </a:pPr>
            <a:r>
              <a:rPr sz="1300" b="0">
                <a:solidFill>
                  <a:srgbClr val="2C3E50"/>
                </a:solidFill>
                <a:ea typeface="Hiragino Sans"/>
                <a:latin typeface="Hiragino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300" b="0">
                <a:solidFill>
                  <a:srgbClr val="2C3E50"/>
                </a:solidFill>
                <a:ea typeface="Hiragino Sans"/>
                <a:latin typeface="Hiragino Sans"/>
              </a:rPr>
              <a:t>構成段階で田中さんが OK/NG を出せるため、</a:t>
            </a:r>
          </a:p>
          <a:p>
            <a:pPr algn="l">
              <a:lnSpc>
                <a:spcPct val="155000"/>
              </a:lnSpc>
            </a:pPr>
            <a:r>
              <a:rPr sz="1300" b="0">
                <a:solidFill>
                  <a:srgbClr val="2C3E50"/>
                </a:solidFill>
                <a:ea typeface="Hiragino Sans"/>
                <a:latin typeface="Hiragino Sans"/>
              </a:rPr>
              <a:t>完成 PPT を作り直す手戻りがほぼゼロになります。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C757D"/>
                </a:solidFill>
                <a:ea typeface="Hiragino Sans"/>
                <a:latin typeface="Hiragino Sans"/>
              </a:rPr>
              <a:t>Claude Code × PowerPoint 解説 | 2026-06-02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53796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C757D"/>
                </a:solidFill>
                <a:ea typeface="Hiragino Sans"/>
                <a:latin typeface="Hiragino Sans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64592" cy="54864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8463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2E5C8A"/>
                </a:solidFill>
                <a:ea typeface="Hiragino Sans"/>
                <a:latin typeface="Hiragino Sans"/>
              </a:rPr>
              <a:t>インプットに使えるもの (今回 + 将来)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972800" cy="621792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27432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ea typeface="Hiragino Sans"/>
                <a:latin typeface="Hiragino Sans"/>
              </a:rPr>
              <a:t>種類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417320"/>
            <a:ext cx="51206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ea typeface="Hiragino Sans"/>
                <a:latin typeface="Hiragino Sans"/>
              </a:rPr>
              <a:t>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1417320"/>
            <a:ext cx="20116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ea typeface="Hiragino Sans"/>
                <a:latin typeface="Hiragino Sans"/>
              </a:rPr>
              <a:t>今回使った?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39112"/>
            <a:ext cx="10972800" cy="62179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651379"/>
            <a:ext cx="10972800" cy="9525"/>
          </a:xfrm>
          <a:prstGeom prst="rect">
            <a:avLst/>
          </a:prstGeom>
          <a:solidFill>
            <a:srgbClr val="D5D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39112"/>
            <a:ext cx="27432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2C3E50"/>
                </a:solidFill>
                <a:ea typeface="Hiragino Sans"/>
                <a:latin typeface="Hiragino Sans"/>
              </a:rPr>
              <a:t>田中さんからのプロンプト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039112"/>
            <a:ext cx="51206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C3E50"/>
                </a:solidFill>
                <a:ea typeface="Hiragino Sans"/>
                <a:latin typeface="Hiragino Sans"/>
              </a:rPr>
              <a:t>「10 店舗以上の FC オーナー向け、配布資料として作って」</a:t>
            </a:r>
          </a:p>
        </p:txBody>
      </p:sp>
      <p:sp>
        <p:nvSpPr>
          <p:cNvPr id="13" name="Oval 12"/>
          <p:cNvSpPr/>
          <p:nvPr/>
        </p:nvSpPr>
        <p:spPr>
          <a:xfrm>
            <a:off x="9473184" y="2221992"/>
            <a:ext cx="256032" cy="256032"/>
          </a:xfrm>
          <a:prstGeom prst="ellipse">
            <a:avLst/>
          </a:prstGeom>
          <a:solidFill>
            <a:srgbClr val="F1C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57232" y="2039112"/>
            <a:ext cx="164592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C3E50"/>
                </a:solidFill>
                <a:ea typeface="Hiragino Sans"/>
                <a:latin typeface="Hiragino Sans"/>
              </a:rPr>
              <a:t>使った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273171"/>
            <a:ext cx="10972800" cy="9525"/>
          </a:xfrm>
          <a:prstGeom prst="rect">
            <a:avLst/>
          </a:prstGeom>
          <a:solidFill>
            <a:srgbClr val="D5D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660904"/>
            <a:ext cx="27432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2C3E50"/>
                </a:solidFill>
                <a:ea typeface="Hiragino Sans"/>
                <a:latin typeface="Hiragino Sans"/>
              </a:rPr>
              <a:t>外部ウェブサイト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2660904"/>
            <a:ext cx="51206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C3E50"/>
                </a:solidFill>
                <a:ea typeface="Hiragino Sans"/>
                <a:latin typeface="Hiragino Sans"/>
              </a:rPr>
              <a:t>uni-s-on.com の本文・画像・カラー・フォント</a:t>
            </a:r>
          </a:p>
        </p:txBody>
      </p:sp>
      <p:sp>
        <p:nvSpPr>
          <p:cNvPr id="18" name="Oval 17"/>
          <p:cNvSpPr/>
          <p:nvPr/>
        </p:nvSpPr>
        <p:spPr>
          <a:xfrm>
            <a:off x="9473184" y="2843784"/>
            <a:ext cx="256032" cy="256032"/>
          </a:xfrm>
          <a:prstGeom prst="ellipse">
            <a:avLst/>
          </a:prstGeom>
          <a:solidFill>
            <a:srgbClr val="F1C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57232" y="2660904"/>
            <a:ext cx="164592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C3E50"/>
                </a:solidFill>
                <a:ea typeface="Hiragino Sans"/>
                <a:latin typeface="Hiragino Sans"/>
              </a:rPr>
              <a:t>使った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282696"/>
            <a:ext cx="10972800" cy="62179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894963"/>
            <a:ext cx="10972800" cy="9525"/>
          </a:xfrm>
          <a:prstGeom prst="rect">
            <a:avLst/>
          </a:prstGeom>
          <a:solidFill>
            <a:srgbClr val="D5D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282696"/>
            <a:ext cx="27432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2C3E50"/>
                </a:solidFill>
                <a:ea typeface="Hiragino Sans"/>
                <a:latin typeface="Hiragino Sans"/>
              </a:rPr>
              <a:t>PC 上の他の営業資料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3282696"/>
            <a:ext cx="51206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C3E50"/>
                </a:solidFill>
                <a:ea typeface="Hiragino Sans"/>
                <a:latin typeface="Hiragino Sans"/>
              </a:rPr>
              <a:t>過去案件の提案書、製品カタログ (.pptx / .pdf / Word)</a:t>
            </a:r>
          </a:p>
        </p:txBody>
      </p:sp>
      <p:sp>
        <p:nvSpPr>
          <p:cNvPr id="24" name="Oval 23"/>
          <p:cNvSpPr/>
          <p:nvPr/>
        </p:nvSpPr>
        <p:spPr>
          <a:xfrm>
            <a:off x="9473184" y="3465576"/>
            <a:ext cx="256032" cy="2560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5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57232" y="3282696"/>
            <a:ext cx="164592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C757D"/>
                </a:solidFill>
                <a:ea typeface="Hiragino Sans"/>
                <a:latin typeface="Hiragino Sans"/>
              </a:rPr>
              <a:t>未使用 (可能)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516755"/>
            <a:ext cx="10972800" cy="9525"/>
          </a:xfrm>
          <a:prstGeom prst="rect">
            <a:avLst/>
          </a:prstGeom>
          <a:solidFill>
            <a:srgbClr val="D5D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3904488"/>
            <a:ext cx="27432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2C3E50"/>
                </a:solidFill>
                <a:ea typeface="Hiragino Sans"/>
                <a:latin typeface="Hiragino Sans"/>
              </a:rPr>
              <a:t>PC 上の生データ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3904488"/>
            <a:ext cx="51206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C3E50"/>
                </a:solidFill>
                <a:ea typeface="Hiragino Sans"/>
                <a:latin typeface="Hiragino Sans"/>
              </a:rPr>
              <a:t>Excel の売上、CSV のアンケート結果</a:t>
            </a:r>
          </a:p>
        </p:txBody>
      </p:sp>
      <p:sp>
        <p:nvSpPr>
          <p:cNvPr id="29" name="Oval 28"/>
          <p:cNvSpPr/>
          <p:nvPr/>
        </p:nvSpPr>
        <p:spPr>
          <a:xfrm>
            <a:off x="9473184" y="4087368"/>
            <a:ext cx="256032" cy="2560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5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57232" y="3904488"/>
            <a:ext cx="164592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C757D"/>
                </a:solidFill>
                <a:ea typeface="Hiragino Sans"/>
                <a:latin typeface="Hiragino Sans"/>
              </a:rPr>
              <a:t>未使用 (可能)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526280"/>
            <a:ext cx="10972800" cy="62179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138547"/>
            <a:ext cx="10972800" cy="9525"/>
          </a:xfrm>
          <a:prstGeom prst="rect">
            <a:avLst/>
          </a:prstGeom>
          <a:solidFill>
            <a:srgbClr val="D5D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4526280"/>
            <a:ext cx="27432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2C3E50"/>
                </a:solidFill>
                <a:ea typeface="Hiragino Sans"/>
                <a:latin typeface="Hiragino Sans"/>
              </a:rPr>
              <a:t>社内テンプレ .pptx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31920" y="4526280"/>
            <a:ext cx="51206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C3E50"/>
                </a:solidFill>
                <a:ea typeface="Hiragino Sans"/>
                <a:latin typeface="Hiragino Sans"/>
              </a:rPr>
              <a:t>会社ロゴ・カラー・標準レイアウト入りの空テンプレ</a:t>
            </a:r>
          </a:p>
        </p:txBody>
      </p:sp>
      <p:sp>
        <p:nvSpPr>
          <p:cNvPr id="35" name="Oval 34"/>
          <p:cNvSpPr/>
          <p:nvPr/>
        </p:nvSpPr>
        <p:spPr>
          <a:xfrm>
            <a:off x="9473184" y="4709160"/>
            <a:ext cx="256032" cy="2560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5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57232" y="4526280"/>
            <a:ext cx="164592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C757D"/>
                </a:solidFill>
                <a:ea typeface="Hiragino Sans"/>
                <a:latin typeface="Hiragino Sans"/>
              </a:rPr>
              <a:t>今回なし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330952"/>
            <a:ext cx="10972800" cy="8686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" y="5330952"/>
            <a:ext cx="109728" cy="86868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5422392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2C3E50"/>
                </a:solidFill>
                <a:ea typeface="Hiragino Sans"/>
                <a:latin typeface="Hiragino Sans"/>
              </a:rPr>
              <a:t>次回はホームページ + 過去資料 + 会社テンプレを全部渡すと、品質が一段上がる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C757D"/>
                </a:solidFill>
                <a:ea typeface="Hiragino Sans"/>
                <a:latin typeface="Hiragino Sans"/>
              </a:rPr>
              <a:t>Claude Code × PowerPoint 解説 | 2026-06-02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24160" y="653796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C757D"/>
                </a:solidFill>
                <a:ea typeface="Hiragino Sans"/>
                <a:latin typeface="Hiragino Sans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64592" cy="54864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8463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2E5C8A"/>
                </a:solidFill>
                <a:ea typeface="Hiragino Sans"/>
                <a:latin typeface="Hiragino Sans"/>
              </a:rPr>
              <a:t>ステップ ①   指示を出す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972800" cy="2286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9728" cy="228600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640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800" b="1">
                <a:solidFill>
                  <a:srgbClr val="2E5C8A"/>
                </a:solidFill>
                <a:ea typeface="Georgia"/>
                <a:latin typeface="Georgia"/>
              </a:rPr>
              <a:t>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600200"/>
            <a:ext cx="98755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0">
                <a:solidFill>
                  <a:srgbClr val="2C3E50"/>
                </a:solidFill>
                <a:ea typeface="Hiragino Sans"/>
                <a:latin typeface="Hiragino Sans"/>
              </a:rPr>
              <a:t>ユニゾン社のホームページをベースに、10 店舗以上を経営する FC オーナー向けの</a:t>
            </a:r>
          </a:p>
          <a:p>
            <a:pPr algn="l">
              <a:lnSpc>
                <a:spcPct val="170000"/>
              </a:lnSpc>
            </a:pPr>
            <a:r>
              <a:rPr sz="1400" b="0">
                <a:solidFill>
                  <a:srgbClr val="2C3E50"/>
                </a:solidFill>
                <a:ea typeface="Hiragino Sans"/>
                <a:latin typeface="Hiragino Sans"/>
              </a:rPr>
              <a:t>営業資料を作ってください。用途は商談での口頭プレゼンではなく、相手に渡して</a:t>
            </a:r>
          </a:p>
          <a:p>
            <a:pPr algn="l">
              <a:lnSpc>
                <a:spcPct val="170000"/>
              </a:lnSpc>
            </a:pPr>
            <a:r>
              <a:rPr sz="1400" b="0">
                <a:solidFill>
                  <a:srgbClr val="2C3E50"/>
                </a:solidFill>
                <a:ea typeface="Hiragino Sans"/>
                <a:latin typeface="Hiragino Sans"/>
              </a:rPr>
              <a:t>後で読んでもらう「配布資料」を想定。デザインはホームページのカラーに</a:t>
            </a:r>
          </a:p>
          <a:p>
            <a:pPr algn="l">
              <a:lnSpc>
                <a:spcPct val="170000"/>
              </a:lnSpc>
            </a:pPr>
            <a:r>
              <a:rPr sz="1400" b="0">
                <a:solidFill>
                  <a:srgbClr val="2C3E50"/>
                </a:solidFill>
                <a:ea typeface="Hiragino Sans"/>
                <a:latin typeface="Hiragino Sans"/>
              </a:rPr>
              <a:t>合わせてください。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3291840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C757D"/>
                </a:solidFill>
                <a:ea typeface="Hiragino Sans"/>
                <a:latin typeface="Hiragino Sans"/>
              </a:rPr>
              <a:t>— 田中さんからの指示 (要約)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023360"/>
            <a:ext cx="5303520" cy="21945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20624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6C757D"/>
                </a:solidFill>
                <a:ea typeface="Hiragino Sans"/>
                <a:latin typeface="Hiragino Sans"/>
              </a:rPr>
              <a:t>プレゼン用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754880"/>
            <a:ext cx="48463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80000"/>
              </a:lnSpc>
            </a:pPr>
            <a:r>
              <a:rPr sz="1400" b="0">
                <a:solidFill>
                  <a:srgbClr val="2C3E50"/>
                </a:solidFill>
                <a:ea typeface="Hiragino Sans"/>
                <a:latin typeface="Hiragino Sans"/>
              </a:rPr>
              <a:t>・1 枚 1 メッセージ</a:t>
            </a:r>
          </a:p>
          <a:p>
            <a:pPr algn="l">
              <a:lnSpc>
                <a:spcPct val="180000"/>
              </a:lnSpc>
            </a:pPr>
            <a:r>
              <a:rPr sz="1400" b="0">
                <a:solidFill>
                  <a:srgbClr val="2C3E50"/>
                </a:solidFill>
                <a:ea typeface="Hiragino Sans"/>
                <a:latin typeface="Hiragino Sans"/>
              </a:rPr>
              <a:t>・画像と数字中心</a:t>
            </a:r>
          </a:p>
          <a:p>
            <a:pPr algn="l">
              <a:lnSpc>
                <a:spcPct val="180000"/>
              </a:lnSpc>
            </a:pPr>
            <a:r>
              <a:rPr sz="1400" b="0">
                <a:solidFill>
                  <a:srgbClr val="2C3E50"/>
                </a:solidFill>
                <a:ea typeface="Hiragino Sans"/>
                <a:latin typeface="Hiragino Sans"/>
              </a:rPr>
              <a:t>・口頭で補足する前提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4023360"/>
            <a:ext cx="530352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E76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420624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E76F51"/>
                </a:solidFill>
                <a:ea typeface="Hiragino Sans"/>
                <a:latin typeface="Hiragino Sans"/>
              </a:rPr>
              <a:t>配布資料   ← 今回はこちら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754880"/>
            <a:ext cx="48463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80000"/>
              </a:lnSpc>
            </a:pPr>
            <a:r>
              <a:rPr sz="1400" b="0">
                <a:solidFill>
                  <a:srgbClr val="2C3E50"/>
                </a:solidFill>
                <a:ea typeface="Hiragino Sans"/>
                <a:latin typeface="Hiragino Sans"/>
              </a:rPr>
              <a:t>・1 枚で意味が完結する</a:t>
            </a:r>
          </a:p>
          <a:p>
            <a:pPr algn="l">
              <a:lnSpc>
                <a:spcPct val="180000"/>
              </a:lnSpc>
            </a:pPr>
            <a:r>
              <a:rPr sz="1400" b="0">
                <a:solidFill>
                  <a:srgbClr val="2C3E50"/>
                </a:solidFill>
                <a:ea typeface="Hiragino Sans"/>
                <a:latin typeface="Hiragino Sans"/>
              </a:rPr>
              <a:t>・本文をしっかり書く</a:t>
            </a:r>
          </a:p>
          <a:p>
            <a:pPr algn="l">
              <a:lnSpc>
                <a:spcPct val="180000"/>
              </a:lnSpc>
            </a:pPr>
            <a:r>
              <a:rPr sz="1400" b="0">
                <a:solidFill>
                  <a:srgbClr val="2C3E50"/>
                </a:solidFill>
                <a:ea typeface="Hiragino Sans"/>
                <a:latin typeface="Hiragino Sans"/>
              </a:rPr>
              <a:t>・後で読み返せる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C757D"/>
                </a:solidFill>
                <a:ea typeface="Hiragino Sans"/>
                <a:latin typeface="Hiragino Sans"/>
              </a:rPr>
              <a:t>Claude Code × PowerPoint 解説 | 2026-06-02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53796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C757D"/>
                </a:solidFill>
                <a:ea typeface="Hiragino Sans"/>
                <a:latin typeface="Hiragino Sans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64592" cy="54864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8463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2E5C8A"/>
                </a:solidFill>
                <a:ea typeface="Hiragino Sans"/>
                <a:latin typeface="Hiragino Sans"/>
              </a:rPr>
              <a:t>ステップ ②   情報を読み込む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>
                <a:solidFill>
                  <a:srgbClr val="2C3E50"/>
                </a:solidFill>
                <a:ea typeface="Hiragino Sans"/>
                <a:latin typeface="Hiragino Sans"/>
              </a:rPr>
              <a:t>Claude Code はホームページを自動で訪問※ して、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2C3E50"/>
                </a:solidFill>
                <a:ea typeface="Hiragino Sans"/>
                <a:latin typeface="Hiragino Sans"/>
              </a:rPr>
              <a:t>以下を取得します:</a:t>
            </a:r>
          </a:p>
        </p:txBody>
      </p:sp>
      <p:sp>
        <p:nvSpPr>
          <p:cNvPr id="6" name="Oval 5"/>
          <p:cNvSpPr/>
          <p:nvPr/>
        </p:nvSpPr>
        <p:spPr>
          <a:xfrm>
            <a:off x="722376" y="2825496"/>
            <a:ext cx="201168" cy="201168"/>
          </a:xfrm>
          <a:prstGeom prst="ellipse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60604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C3E50"/>
                </a:solidFill>
                <a:ea typeface="Hiragino Sans"/>
                <a:latin typeface="Hiragino Sans"/>
              </a:rPr>
              <a:t>キャッチコピー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260604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C3E50"/>
                </a:solidFill>
                <a:ea typeface="Hiragino Sans"/>
                <a:latin typeface="Hiragino Sans"/>
              </a:rPr>
              <a:t>「いいもの」で世界がつながる</a:t>
            </a:r>
          </a:p>
        </p:txBody>
      </p:sp>
      <p:sp>
        <p:nvSpPr>
          <p:cNvPr id="9" name="Oval 8"/>
          <p:cNvSpPr/>
          <p:nvPr/>
        </p:nvSpPr>
        <p:spPr>
          <a:xfrm>
            <a:off x="722376" y="3465576"/>
            <a:ext cx="201168" cy="201168"/>
          </a:xfrm>
          <a:prstGeom prst="ellipse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24612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C3E50"/>
                </a:solidFill>
                <a:ea typeface="Hiragino Sans"/>
                <a:latin typeface="Hiragino Sans"/>
              </a:rPr>
              <a:t>提供サービス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324612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C3E50"/>
                </a:solidFill>
                <a:ea typeface="Hiragino Sans"/>
                <a:latin typeface="Hiragino Sans"/>
              </a:rPr>
              <a:t>グルメ大学+PLUS / Consulting / GBP</a:t>
            </a:r>
          </a:p>
        </p:txBody>
      </p:sp>
      <p:sp>
        <p:nvSpPr>
          <p:cNvPr id="12" name="Oval 11"/>
          <p:cNvSpPr/>
          <p:nvPr/>
        </p:nvSpPr>
        <p:spPr>
          <a:xfrm>
            <a:off x="722376" y="4105656"/>
            <a:ext cx="201168" cy="201168"/>
          </a:xfrm>
          <a:prstGeom prst="ellipse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88620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C3E50"/>
                </a:solidFill>
                <a:ea typeface="Hiragino Sans"/>
                <a:latin typeface="Hiragino Sans"/>
              </a:rPr>
              <a:t>ブランドカラー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63240" y="4069080"/>
            <a:ext cx="256032" cy="256032"/>
          </a:xfrm>
          <a:prstGeom prst="rect">
            <a:avLst/>
          </a:prstGeom>
          <a:solidFill>
            <a:srgbClr val="7297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388620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C3E50"/>
                </a:solidFill>
                <a:ea typeface="Hiragino Sans"/>
                <a:latin typeface="Hiragino Sans"/>
              </a:rPr>
              <a:t>#7297A9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4069080"/>
            <a:ext cx="256032" cy="256032"/>
          </a:xfrm>
          <a:prstGeom prst="rect">
            <a:avLst/>
          </a:prstGeom>
          <a:solidFill>
            <a:srgbClr val="126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388620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C3E50"/>
                </a:solidFill>
                <a:ea typeface="Hiragino Sans"/>
                <a:latin typeface="Hiragino Sans"/>
              </a:rPr>
              <a:t>#126D64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49240" y="4069080"/>
            <a:ext cx="256032" cy="256032"/>
          </a:xfrm>
          <a:prstGeom prst="rect">
            <a:avLst/>
          </a:prstGeom>
          <a:solidFill>
            <a:srgbClr val="F09D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5000" y="388620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C3E50"/>
                </a:solidFill>
                <a:ea typeface="Hiragino Sans"/>
                <a:latin typeface="Hiragino Sans"/>
              </a:rPr>
              <a:t>#F09D01</a:t>
            </a:r>
          </a:p>
        </p:txBody>
      </p:sp>
      <p:sp>
        <p:nvSpPr>
          <p:cNvPr id="20" name="Oval 19"/>
          <p:cNvSpPr/>
          <p:nvPr/>
        </p:nvSpPr>
        <p:spPr>
          <a:xfrm>
            <a:off x="722376" y="4745736"/>
            <a:ext cx="201168" cy="201168"/>
          </a:xfrm>
          <a:prstGeom prst="ellipse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52628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C3E50"/>
                </a:solidFill>
                <a:ea typeface="Hiragino Sans"/>
                <a:latin typeface="Hiragino Sans"/>
              </a:rPr>
              <a:t>フォント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452628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C3E50"/>
                </a:solidFill>
                <a:ea typeface="Hiragino Sans"/>
                <a:latin typeface="Hiragino Sans"/>
              </a:rPr>
              <a:t>Noto Sans JP</a:t>
            </a:r>
          </a:p>
        </p:txBody>
      </p:sp>
      <p:sp>
        <p:nvSpPr>
          <p:cNvPr id="23" name="Oval 22"/>
          <p:cNvSpPr/>
          <p:nvPr/>
        </p:nvSpPr>
        <p:spPr>
          <a:xfrm>
            <a:off x="722376" y="5385816"/>
            <a:ext cx="201168" cy="201168"/>
          </a:xfrm>
          <a:prstGeom prst="ellipse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16636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C3E50"/>
                </a:solidFill>
                <a:ea typeface="Hiragino Sans"/>
                <a:latin typeface="Hiragino Sans"/>
              </a:rPr>
              <a:t>画像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3240" y="516636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C3E50"/>
                </a:solidFill>
                <a:ea typeface="Hiragino Sans"/>
                <a:latin typeface="Hiragino Sans"/>
              </a:rPr>
              <a:t>ロゴ・ヒーロー画像 7 枚 など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1463040"/>
            <a:ext cx="4846320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E76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0" y="178308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76F51"/>
                </a:solidFill>
                <a:ea typeface="Hiragino Sans"/>
                <a:latin typeface="Hiragino Sans"/>
              </a:rPr>
              <a:t>※ 自動でホームページを訪問する仕組み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2423160"/>
            <a:ext cx="429768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300" b="0">
                <a:solidFill>
                  <a:srgbClr val="2C3E50"/>
                </a:solidFill>
                <a:ea typeface="Hiragino Sans"/>
                <a:latin typeface="Hiragino Sans"/>
              </a:rPr>
              <a:t>この「自動で訪問する」部分には、</a:t>
            </a:r>
          </a:p>
          <a:p>
            <a:pPr algn="l">
              <a:lnSpc>
                <a:spcPct val="170000"/>
              </a:lnSpc>
            </a:pPr>
            <a:r>
              <a:rPr sz="1300" b="0">
                <a:solidFill>
                  <a:srgbClr val="2C3E50"/>
                </a:solidFill>
                <a:ea typeface="Hiragino Sans"/>
                <a:latin typeface="Hiragino Sans"/>
              </a:rPr>
              <a:t>Playwright というブラウザ自動操作の仕組みを</a:t>
            </a:r>
          </a:p>
          <a:p>
            <a:pPr algn="l">
              <a:lnSpc>
                <a:spcPct val="170000"/>
              </a:lnSpc>
            </a:pPr>
            <a:r>
              <a:rPr sz="1300" b="0">
                <a:solidFill>
                  <a:srgbClr val="2C3E50"/>
                </a:solidFill>
                <a:ea typeface="Hiragino Sans"/>
                <a:latin typeface="Hiragino Sans"/>
              </a:rPr>
              <a:t>使っています。</a:t>
            </a:r>
          </a:p>
          <a:p>
            <a:pPr algn="l">
              <a:lnSpc>
                <a:spcPct val="170000"/>
              </a:lnSpc>
            </a:pPr>
            <a:r>
              <a:rPr sz="1300" b="0">
                <a:solidFill>
                  <a:srgbClr val="2C3E50"/>
                </a:solidFill>
                <a:ea typeface="Hiragino Sans"/>
                <a:latin typeface="Hiragino Sans"/>
              </a:rPr>
              <a:t/>
            </a:r>
          </a:p>
          <a:p>
            <a:pPr algn="l">
              <a:lnSpc>
                <a:spcPct val="170000"/>
              </a:lnSpc>
            </a:pPr>
            <a:r>
              <a:rPr sz="1300" b="0">
                <a:solidFill>
                  <a:srgbClr val="2C3E50"/>
                </a:solidFill>
                <a:ea typeface="Hiragino Sans"/>
                <a:latin typeface="Hiragino Sans"/>
              </a:rPr>
              <a:t>Claude Code から呼び出すと、内部でブラウザが</a:t>
            </a:r>
          </a:p>
          <a:p>
            <a:pPr algn="l">
              <a:lnSpc>
                <a:spcPct val="170000"/>
              </a:lnSpc>
            </a:pPr>
            <a:r>
              <a:rPr sz="1300" b="0">
                <a:solidFill>
                  <a:srgbClr val="2C3E50"/>
                </a:solidFill>
                <a:ea typeface="Hiragino Sans"/>
                <a:latin typeface="Hiragino Sans"/>
              </a:rPr>
              <a:t>立ち上がり、本文・画像・色・フォントを</a:t>
            </a:r>
          </a:p>
          <a:p>
            <a:pPr algn="l">
              <a:lnSpc>
                <a:spcPct val="170000"/>
              </a:lnSpc>
            </a:pPr>
            <a:r>
              <a:rPr sz="1300" b="0">
                <a:solidFill>
                  <a:srgbClr val="2C3E50"/>
                </a:solidFill>
                <a:ea typeface="Hiragino Sans"/>
                <a:latin typeface="Hiragino Sans"/>
              </a:rPr>
              <a:t>1 分以内にまとめて取得してくれます。</a:t>
            </a:r>
          </a:p>
          <a:p>
            <a:pPr algn="l">
              <a:lnSpc>
                <a:spcPct val="170000"/>
              </a:lnSpc>
            </a:pPr>
            <a:r>
              <a:rPr sz="1300" b="0">
                <a:solidFill>
                  <a:srgbClr val="2C3E50"/>
                </a:solidFill>
                <a:ea typeface="Hiragino Sans"/>
                <a:latin typeface="Hiragino Sans"/>
              </a:rPr>
              <a:t/>
            </a:r>
          </a:p>
          <a:p>
            <a:pPr algn="l">
              <a:lnSpc>
                <a:spcPct val="170000"/>
              </a:lnSpc>
            </a:pPr>
            <a:r>
              <a:rPr sz="1300" b="0">
                <a:solidFill>
                  <a:srgbClr val="2C3E50"/>
                </a:solidFill>
                <a:ea typeface="Hiragino Sans"/>
                <a:latin typeface="Hiragino Sans"/>
              </a:rPr>
              <a:t>詳しくは次ページのコラムで紹介します。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C757D"/>
                </a:solidFill>
                <a:ea typeface="Hiragino Sans"/>
                <a:latin typeface="Hiragino Sans"/>
              </a:rPr>
              <a:t>Claude Code × PowerPoint 解説 | 2026-06-02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653796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C757D"/>
                </a:solidFill>
                <a:ea typeface="Hiragino Sans"/>
                <a:latin typeface="Hiragino Sans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7295" cy="6858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ea typeface="Hiragino Sans"/>
                <a:latin typeface="Hiragino Sans"/>
              </a:rPr>
              <a:t>コラム  —  Playwright というウェブ取得ツール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6766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2E5C8A"/>
                </a:solidFill>
                <a:ea typeface="Hiragino Sans"/>
                <a:latin typeface="Hiragino Sans"/>
              </a:rPr>
              <a:t>Playwright とは?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67665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300" b="0">
                <a:solidFill>
                  <a:srgbClr val="2C3E50"/>
                </a:solidFill>
                <a:ea typeface="Hiragino Sans"/>
                <a:latin typeface="Hiragino Sans"/>
              </a:rPr>
              <a:t>Claude Code から呼び出せる、ブラウザを自動操作するための外部ツール</a:t>
            </a:r>
          </a:p>
          <a:p>
            <a:pPr algn="l">
              <a:lnSpc>
                <a:spcPct val="170000"/>
              </a:lnSpc>
            </a:pPr>
            <a:r>
              <a:rPr sz="1300" b="0">
                <a:solidFill>
                  <a:srgbClr val="2C3E50"/>
                </a:solidFill>
                <a:ea typeface="Hiragino Sans"/>
                <a:latin typeface="Hiragino Sans"/>
              </a:rPr>
              <a:t>(MCP = ツール接続規格の一つ) です。</a:t>
            </a:r>
          </a:p>
          <a:p>
            <a:pPr algn="l">
              <a:lnSpc>
                <a:spcPct val="170000"/>
              </a:lnSpc>
            </a:pPr>
            <a:r>
              <a:rPr sz="1300" b="0">
                <a:solidFill>
                  <a:srgbClr val="2C3E50"/>
                </a:solidFill>
                <a:ea typeface="Hiragino Sans"/>
                <a:latin typeface="Hiragino Sans"/>
              </a:rPr>
              <a:t>「ホームページを見てきて」と指示すると、内部でブラウザを起動して</a:t>
            </a:r>
          </a:p>
          <a:p>
            <a:pPr algn="l">
              <a:lnSpc>
                <a:spcPct val="170000"/>
              </a:lnSpc>
            </a:pPr>
            <a:r>
              <a:rPr sz="1300" b="0">
                <a:solidFill>
                  <a:srgbClr val="2C3E50"/>
                </a:solidFill>
                <a:ea typeface="Hiragino Sans"/>
                <a:latin typeface="Hiragino Sans"/>
              </a:rPr>
              <a:t>1 分以内に必要な情報を取ってきます。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6766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2E5C8A"/>
                </a:solidFill>
                <a:ea typeface="Hiragino Sans"/>
                <a:latin typeface="Hiragino Sans"/>
              </a:rPr>
              <a:t>取得できるもの</a:t>
            </a:r>
          </a:p>
        </p:txBody>
      </p:sp>
      <p:sp>
        <p:nvSpPr>
          <p:cNvPr id="8" name="Oval 7"/>
          <p:cNvSpPr/>
          <p:nvPr/>
        </p:nvSpPr>
        <p:spPr>
          <a:xfrm>
            <a:off x="694944" y="4379976"/>
            <a:ext cx="164592" cy="164592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2976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C3E50"/>
                </a:solidFill>
                <a:ea typeface="Hiragino Sans"/>
                <a:latin typeface="Hiragino Sans"/>
              </a:rPr>
              <a:t>本文・画像 URL の抽出</a:t>
            </a:r>
          </a:p>
        </p:txBody>
      </p:sp>
      <p:sp>
        <p:nvSpPr>
          <p:cNvPr id="10" name="Oval 9"/>
          <p:cNvSpPr/>
          <p:nvPr/>
        </p:nvSpPr>
        <p:spPr>
          <a:xfrm>
            <a:off x="694944" y="4791456"/>
            <a:ext cx="164592" cy="164592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C3E50"/>
                </a:solidFill>
                <a:ea typeface="Hiragino Sans"/>
                <a:latin typeface="Hiragino Sans"/>
              </a:rPr>
              <a:t>色や使用フォントの取得 (getComputedStyle)</a:t>
            </a:r>
          </a:p>
        </p:txBody>
      </p:sp>
      <p:sp>
        <p:nvSpPr>
          <p:cNvPr id="12" name="Oval 11"/>
          <p:cNvSpPr/>
          <p:nvPr/>
        </p:nvSpPr>
        <p:spPr>
          <a:xfrm>
            <a:off x="694944" y="5202936"/>
            <a:ext cx="164592" cy="164592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C3E50"/>
                </a:solidFill>
                <a:ea typeface="Hiragino Sans"/>
                <a:latin typeface="Hiragino Sans"/>
              </a:rPr>
              <a:t>ページのスクリーンショット撮影</a:t>
            </a:r>
          </a:p>
        </p:txBody>
      </p:sp>
      <p:sp>
        <p:nvSpPr>
          <p:cNvPr id="14" name="Oval 13"/>
          <p:cNvSpPr/>
          <p:nvPr/>
        </p:nvSpPr>
        <p:spPr>
          <a:xfrm>
            <a:off x="694944" y="5614416"/>
            <a:ext cx="164592" cy="164592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532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C3E50"/>
                </a:solidFill>
                <a:ea typeface="Hiragino Sans"/>
                <a:latin typeface="Hiragino Sans"/>
              </a:rPr>
              <a:t>JavaScript で動く動的サイトのレンダリング後の状態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80960" y="1463040"/>
            <a:ext cx="4023360" cy="50292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0" y="1463040"/>
            <a:ext cx="3566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ea typeface="Hiragino Sans"/>
                <a:latin typeface="Hiragino Sans"/>
              </a:rPr>
              <a:t>業務でこういうときに便利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0" y="2148840"/>
            <a:ext cx="4023360" cy="12344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80960" y="2148840"/>
            <a:ext cx="91440" cy="123444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0" y="22860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2E5C8A"/>
                </a:solidFill>
                <a:ea typeface="Hiragino Sans"/>
                <a:latin typeface="Hiragino Sans"/>
              </a:rPr>
              <a:t>競合分析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0" y="2697480"/>
            <a:ext cx="3657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C3E50"/>
                </a:solidFill>
                <a:ea typeface="Hiragino Sans"/>
                <a:latin typeface="Hiragino Sans"/>
              </a:rPr>
              <a:t>競合 5 社のサイトを巡回して比較表を自動生成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80960" y="3493008"/>
            <a:ext cx="4023360" cy="12344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80960" y="3493008"/>
            <a:ext cx="91440" cy="123444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0" y="363016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2E5C8A"/>
                </a:solidFill>
                <a:ea typeface="Hiragino Sans"/>
                <a:latin typeface="Hiragino Sans"/>
              </a:rPr>
              <a:t>SEO 監査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0" y="4041648"/>
            <a:ext cx="3657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C3E50"/>
                </a:solidFill>
                <a:ea typeface="Hiragino Sans"/>
                <a:latin typeface="Hiragino Sans"/>
              </a:rPr>
              <a:t>自社サイト全ページのメタ情報・見出し構造をチェック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80960" y="4837176"/>
            <a:ext cx="4023360" cy="12344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80960" y="4837176"/>
            <a:ext cx="91440" cy="123444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0" y="4974336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2E5C8A"/>
                </a:solidFill>
                <a:ea typeface="Hiragino Sans"/>
                <a:latin typeface="Hiragino Sans"/>
              </a:rPr>
              <a:t>営業先調査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0" y="5385816"/>
            <a:ext cx="3657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C3E50"/>
                </a:solidFill>
                <a:ea typeface="Hiragino Sans"/>
                <a:latin typeface="Hiragino Sans"/>
              </a:rPr>
              <a:t>商談前に相手企業のサイトから事業概要・最新ニュース要約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C757D"/>
                </a:solidFill>
                <a:ea typeface="Hiragino Sans"/>
                <a:latin typeface="Hiragino Sans"/>
              </a:rPr>
              <a:t>Claude Code × PowerPoint 解説 | 2026-06-02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653796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C757D"/>
                </a:solidFill>
                <a:ea typeface="Hiragino Sans"/>
                <a:latin typeface="Hiragino Sans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64592" cy="5486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8463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2A9D8F"/>
                </a:solidFill>
                <a:ea typeface="Hiragino Sans"/>
                <a:latin typeface="Hiragino Sans"/>
              </a:rPr>
              <a:t>ステップ ③   構成案を Markdown で作る   ★ 2 段階の 1 段目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5760720" cy="4572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ea typeface="Consolas"/>
                <a:latin typeface="Consolas"/>
              </a:rPr>
              <a:t>construction.md  —  10 枚構成案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5760720" cy="42062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521208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85000"/>
              </a:lnSpc>
            </a:pPr>
            <a:r>
              <a:rPr sz="1300" b="0">
                <a:solidFill>
                  <a:srgbClr val="2C3E50"/>
                </a:solidFill>
                <a:ea typeface="Consolas"/>
                <a:latin typeface="Consolas"/>
              </a:rPr>
              <a:t>1.  表紙</a:t>
            </a:r>
          </a:p>
          <a:p>
            <a:pPr algn="l">
              <a:lnSpc>
                <a:spcPct val="185000"/>
              </a:lnSpc>
            </a:pPr>
            <a:r>
              <a:rPr sz="1300" b="0">
                <a:solidFill>
                  <a:srgbClr val="2C3E50"/>
                </a:solidFill>
                <a:ea typeface="Consolas"/>
                <a:latin typeface="Consolas"/>
              </a:rPr>
              <a:t>2.  課題提起 (3 カラム)</a:t>
            </a:r>
          </a:p>
          <a:p>
            <a:pPr algn="l">
              <a:lnSpc>
                <a:spcPct val="185000"/>
              </a:lnSpc>
            </a:pPr>
            <a:r>
              <a:rPr sz="1300" b="0">
                <a:solidFill>
                  <a:srgbClr val="2C3E50"/>
                </a:solidFill>
                <a:ea typeface="Consolas"/>
                <a:latin typeface="Consolas"/>
              </a:rPr>
              <a:t>3.  UNI'SON の 3 サービス紹介</a:t>
            </a:r>
          </a:p>
          <a:p>
            <a:pPr algn="l">
              <a:lnSpc>
                <a:spcPct val="185000"/>
              </a:lnSpc>
            </a:pPr>
            <a:r>
              <a:rPr sz="1300" b="0">
                <a:solidFill>
                  <a:srgbClr val="2C3E50"/>
                </a:solidFill>
                <a:ea typeface="Consolas"/>
                <a:latin typeface="Consolas"/>
              </a:rPr>
              <a:t>4.  サービス①  グルメ大学+PLUS</a:t>
            </a:r>
          </a:p>
          <a:p>
            <a:pPr algn="l">
              <a:lnSpc>
                <a:spcPct val="185000"/>
              </a:lnSpc>
            </a:pPr>
            <a:r>
              <a:rPr sz="1300" b="0">
                <a:solidFill>
                  <a:srgbClr val="2C3E50"/>
                </a:solidFill>
                <a:ea typeface="Consolas"/>
                <a:latin typeface="Consolas"/>
              </a:rPr>
              <a:t>5.  サービス②  Consulting (TikTok × Instagram)</a:t>
            </a:r>
          </a:p>
          <a:p>
            <a:pPr algn="l">
              <a:lnSpc>
                <a:spcPct val="185000"/>
              </a:lnSpc>
            </a:pPr>
            <a:r>
              <a:rPr sz="1300" b="0">
                <a:solidFill>
                  <a:srgbClr val="2C3E50"/>
                </a:solidFill>
                <a:ea typeface="Consolas"/>
                <a:latin typeface="Consolas"/>
              </a:rPr>
              <a:t>6.  サービス③  GBP (MEO)</a:t>
            </a:r>
          </a:p>
          <a:p>
            <a:pPr algn="l">
              <a:lnSpc>
                <a:spcPct val="185000"/>
              </a:lnSpc>
            </a:pPr>
            <a:r>
              <a:rPr sz="1300" b="0">
                <a:solidFill>
                  <a:srgbClr val="2C3E50"/>
                </a:solidFill>
                <a:ea typeface="Consolas"/>
                <a:latin typeface="Consolas"/>
              </a:rPr>
              <a:t>7.  ロードマップ</a:t>
            </a:r>
          </a:p>
          <a:p>
            <a:pPr algn="l">
              <a:lnSpc>
                <a:spcPct val="185000"/>
              </a:lnSpc>
            </a:pPr>
            <a:r>
              <a:rPr sz="1300" b="0">
                <a:solidFill>
                  <a:srgbClr val="2C3E50"/>
                </a:solidFill>
                <a:ea typeface="Consolas"/>
                <a:latin typeface="Consolas"/>
              </a:rPr>
              <a:t>8.  他社比較表</a:t>
            </a:r>
          </a:p>
          <a:p>
            <a:pPr algn="l">
              <a:lnSpc>
                <a:spcPct val="185000"/>
              </a:lnSpc>
            </a:pPr>
            <a:r>
              <a:rPr sz="1300" b="0">
                <a:solidFill>
                  <a:srgbClr val="2C3E50"/>
                </a:solidFill>
                <a:ea typeface="Consolas"/>
                <a:latin typeface="Consolas"/>
              </a:rPr>
              <a:t>9.  お客様の声</a:t>
            </a:r>
          </a:p>
          <a:p>
            <a:pPr algn="l">
              <a:lnSpc>
                <a:spcPct val="185000"/>
              </a:lnSpc>
            </a:pPr>
            <a:r>
              <a:rPr sz="1300" b="0">
                <a:solidFill>
                  <a:srgbClr val="2C3E50"/>
                </a:solidFill>
                <a:ea typeface="Consolas"/>
                <a:latin typeface="Consolas"/>
              </a:rPr>
              <a:t>10. 会社概要 + 次のステップ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0" y="1463040"/>
            <a:ext cx="4846320" cy="46634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1737360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ea typeface="Hiragino Sans"/>
                <a:latin typeface="Hiragino Sans"/>
              </a:rPr>
              <a:t>ここで田中さんがレビュー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37744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ea typeface="Hiragino Sans"/>
                <a:latin typeface="Hiragino Sans"/>
              </a:rPr>
              <a:t>Markdown のままできること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88036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ea typeface="Hiragino Sans"/>
                <a:latin typeface="Hiragino Sans"/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288036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FFFFFF"/>
                </a:solidFill>
                <a:ea typeface="Hiragino Sans"/>
                <a:latin typeface="Hiragino Sans"/>
              </a:rPr>
              <a:t>順番の入れ替え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32918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ea typeface="Hiragino Sans"/>
                <a:latin typeface="Hiragino Sans"/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329184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FFFFFF"/>
                </a:solidFill>
                <a:ea typeface="Hiragino Sans"/>
                <a:latin typeface="Hiragino Sans"/>
              </a:rPr>
              <a:t>セクションの追加・削除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37033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ea typeface="Hiragino Sans"/>
                <a:latin typeface="Hiragino Sans"/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370332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FFFFFF"/>
                </a:solidFill>
                <a:ea typeface="Hiragino Sans"/>
                <a:latin typeface="Hiragino Sans"/>
              </a:rPr>
              <a:t>文言のニュアンス修正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4114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ea typeface="Hiragino Sans"/>
                <a:latin typeface="Hiragino Sans"/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411480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FFFFFF"/>
                </a:solidFill>
                <a:ea typeface="Hiragino Sans"/>
                <a:latin typeface="Hiragino Sans"/>
              </a:rPr>
              <a:t>新しいセクションの差し込み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40880" y="4892040"/>
            <a:ext cx="429768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69480" y="4983480"/>
            <a:ext cx="3840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1">
                <a:solidFill>
                  <a:srgbClr val="2A9D8F"/>
                </a:solidFill>
                <a:ea typeface="Hiragino Sans"/>
                <a:latin typeface="Hiragino Sans"/>
              </a:rPr>
              <a:t>→ PowerPoint を作り直すより</a:t>
            </a:r>
          </a:p>
          <a:p>
            <a:pPr algn="l">
              <a:lnSpc>
                <a:spcPct val="155000"/>
              </a:lnSpc>
            </a:pPr>
            <a:r>
              <a:rPr sz="1300" b="1">
                <a:solidFill>
                  <a:srgbClr val="2A9D8F"/>
                </a:solidFill>
                <a:ea typeface="Hiragino Sans"/>
                <a:latin typeface="Hiragino Sans"/>
              </a:rPr>
              <a:t>Markdown を直す方が圧倒的に速い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C757D"/>
                </a:solidFill>
                <a:ea typeface="Hiragino Sans"/>
                <a:latin typeface="Hiragino Sans"/>
              </a:rPr>
              <a:t>Claude Code × PowerPoint 解説 | 2026-06-02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3796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C757D"/>
                </a:solidFill>
                <a:ea typeface="Hiragino Sans"/>
                <a:latin typeface="Hiragino Sans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64592" cy="5486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8463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2A9D8F"/>
                </a:solidFill>
                <a:ea typeface="Hiragino Sans"/>
                <a:latin typeface="Hiragino Sans"/>
              </a:rPr>
              <a:t>構成案は「1 ページの中身まで」決める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2C3E50"/>
                </a:solidFill>
                <a:ea typeface="Hiragino Sans"/>
                <a:latin typeface="Hiragino Sans"/>
              </a:rPr>
              <a:t>例) スライド 4 「サービス①  グルメ大学+PLUS」の構成案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3931920" cy="45720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ea typeface="Hiragino Sans"/>
                <a:latin typeface="Hiragino Sans"/>
              </a:rPr>
              <a:t>左ヒーローパネル の指示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3931920" cy="3840480"/>
          </a:xfrm>
          <a:prstGeom prst="rect">
            <a:avLst/>
          </a:prstGeom>
          <a:solidFill>
            <a:srgbClr val="7297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920240" y="2514600"/>
            <a:ext cx="1371600" cy="1371600"/>
          </a:xfrm>
          <a:prstGeom prst="roundRect">
            <a:avLst/>
          </a:prstGeom>
          <a:solidFill>
            <a:srgbClr val="F09D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40" y="2514600"/>
            <a:ext cx="137160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ea typeface="Hiragino Sans"/>
                <a:latin typeface="Hiragino Sans"/>
              </a:rPr>
              <a:t>3 ヶ月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6908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ea typeface="Hiragino Sans"/>
                <a:latin typeface="Hiragino Sans"/>
              </a:rPr>
              <a:t>新店オープン期の認知獲得を圧縮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12064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FFFFFF"/>
                </a:solidFill>
                <a:ea typeface="Hiragino Sans"/>
                <a:latin typeface="Hiragino Sans"/>
              </a:rPr>
              <a:t>※ 撮影前にインフルエンサーと</a:t>
            </a:r>
          </a:p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FFFFFF"/>
                </a:solidFill>
                <a:ea typeface="Hiragino Sans"/>
                <a:latin typeface="Hiragino Sans"/>
              </a:rPr>
              <a:t>企画擦り合わせ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1600200"/>
            <a:ext cx="7132320" cy="45720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1600200"/>
            <a:ext cx="6766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ea typeface="Hiragino Sans"/>
                <a:latin typeface="Hiragino Sans"/>
              </a:rPr>
              <a:t>右ペイン の指示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2057400"/>
            <a:ext cx="71323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224028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E76F51"/>
                </a:solidFill>
                <a:ea typeface="Hiragino Sans"/>
                <a:latin typeface="Hiragino Sans"/>
              </a:rPr>
              <a:t>SERVICE 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606040"/>
            <a:ext cx="6492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2C3E50"/>
                </a:solidFill>
                <a:ea typeface="Hiragino Sans"/>
                <a:latin typeface="Hiragino Sans"/>
              </a:rPr>
              <a:t>グルメ大学+PLUS  —  インフルエンサーキャスティング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3337560"/>
            <a:ext cx="6492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>
                <a:solidFill>
                  <a:srgbClr val="2C3E50"/>
                </a:solidFill>
                <a:ea typeface="Hiragino Sans"/>
                <a:latin typeface="Hiragino Sans"/>
              </a:rPr>
              <a:t>メガインフルエンサーを中心に、業態と相性の合う発信者を選定。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2C3E50"/>
                </a:solidFill>
                <a:ea typeface="Hiragino Sans"/>
                <a:latin typeface="Hiragino Sans"/>
              </a:rPr>
              <a:t>本部側で 1 件ずつ営業せず、本部担当者は最終 GO だけ。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2C3E50"/>
                </a:solidFill>
                <a:ea typeface="Hiragino Sans"/>
                <a:latin typeface="Hiragino Sans"/>
              </a:rPr>
              <a:t>グルメ大学運営で築いた人脈を活用。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438912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A9D8F"/>
                </a:solidFill>
                <a:ea typeface="Hiragino Sans"/>
                <a:latin typeface="Hiragino Sans"/>
              </a:rPr>
              <a:t>こんな本部に効く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48006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76F51"/>
                </a:solidFill>
                <a:ea typeface="Hiragino Sans"/>
                <a:latin typeface="Hiragino San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4800600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C3E50"/>
                </a:solidFill>
                <a:ea typeface="Hiragino Sans"/>
                <a:latin typeface="Hiragino Sans"/>
              </a:rPr>
              <a:t>グランドオープン期の認知獲得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50749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76F51"/>
                </a:solidFill>
                <a:ea typeface="Hiragino Sans"/>
                <a:latin typeface="Hiragino Sans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5074920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C3E50"/>
                </a:solidFill>
                <a:ea typeface="Hiragino Sans"/>
                <a:latin typeface="Hiragino Sans"/>
              </a:rPr>
              <a:t>季節キャンペーン / 新商品の一斉告知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53492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76F51"/>
                </a:solidFill>
                <a:ea typeface="Hiragino Sans"/>
                <a:latin typeface="Hiragino San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5349240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C3E50"/>
                </a:solidFill>
                <a:ea typeface="Hiragino Sans"/>
                <a:latin typeface="Hiragino Sans"/>
              </a:rPr>
              <a:t>既存店リブランド後の再認知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56235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76F51"/>
                </a:solidFill>
                <a:ea typeface="Hiragino Sans"/>
                <a:latin typeface="Hiragino Sans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5623560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C3E50"/>
                </a:solidFill>
                <a:ea typeface="Hiragino Sans"/>
                <a:latin typeface="Hiragino Sans"/>
              </a:rPr>
              <a:t>多店舗一斉投入で話題化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6080760"/>
            <a:ext cx="10972800" cy="3657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6080760"/>
            <a:ext cx="91440" cy="3657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60807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C3E50"/>
                </a:solidFill>
                <a:ea typeface="Hiragino Sans"/>
                <a:latin typeface="Hiragino Sans"/>
              </a:rPr>
              <a:t>この粒度を 10 枚分書く → PowerPoint 化のとき迷いゼロ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C757D"/>
                </a:solidFill>
                <a:ea typeface="Hiragino Sans"/>
                <a:latin typeface="Hiragino Sans"/>
              </a:rPr>
              <a:t>Claude Code × PowerPoint 解説 | 2026-06-02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53796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C757D"/>
                </a:solidFill>
                <a:ea typeface="Hiragino Sans"/>
                <a:latin typeface="Hiragino Sans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64592" cy="54864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8463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2E5C8A"/>
                </a:solidFill>
                <a:ea typeface="Hiragino Sans"/>
                <a:latin typeface="Hiragino Sans"/>
              </a:rPr>
              <a:t>ステップ ④   構成案をもとに PowerPoint を作る   (2 段階目)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2E5C8A"/>
                </a:solidFill>
                <a:ea typeface="Hiragino Sans"/>
                <a:latin typeface="Hiragino Sans"/>
              </a:rPr>
              <a:t>概要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148840"/>
            <a:ext cx="365760" cy="365760"/>
          </a:xfrm>
          <a:prstGeom prst="ellipse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ea typeface="Hiragino Sans"/>
                <a:latin typeface="Hiragino Sa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2C3E50"/>
                </a:solidFill>
                <a:ea typeface="Hiragino Sans"/>
                <a:latin typeface="Hiragino Sans"/>
              </a:rPr>
              <a:t>Anthropic の PPTX スキル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514600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C757D"/>
                </a:solidFill>
                <a:ea typeface="Hiragino Sans"/>
                <a:latin typeface="Hiragino Sans"/>
              </a:rPr>
              <a:t>を使う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ea typeface="Hiragino Sans"/>
                <a:latin typeface="Hiragino San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971800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2C3E50"/>
                </a:solidFill>
                <a:ea typeface="Hiragino Sans"/>
                <a:latin typeface="Hiragino Sans"/>
              </a:rPr>
              <a:t>Python でコードを書いて pptx を生成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383280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C757D"/>
                </a:solidFill>
                <a:ea typeface="Hiragino Sans"/>
                <a:latin typeface="Hiragino Sans"/>
              </a:rPr>
              <a:t>(細かい仕組みは省略)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886200"/>
            <a:ext cx="365760" cy="365760"/>
          </a:xfrm>
          <a:prstGeom prst="ellipse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886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ea typeface="Hiragino Sans"/>
                <a:latin typeface="Hiragino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840480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2C3E50"/>
                </a:solidFill>
                <a:ea typeface="Hiragino Sans"/>
                <a:latin typeface="Hiragino Sans"/>
              </a:rPr>
              <a:t>構成案の指示通り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251960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C757D"/>
                </a:solidFill>
                <a:ea typeface="Hiragino Sans"/>
                <a:latin typeface="Hiragino Sans"/>
              </a:rPr>
              <a:t>に 10 枚を組み立て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4754880"/>
            <a:ext cx="365760" cy="365760"/>
          </a:xfrm>
          <a:prstGeom prst="ellipse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7548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ea typeface="Hiragino Sans"/>
                <a:latin typeface="Hiragino San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709160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2C3E50"/>
                </a:solidFill>
                <a:ea typeface="Hiragino Sans"/>
                <a:latin typeface="Hiragino Sans"/>
              </a:rPr>
              <a:t>ホームページのカラー・画像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120640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C757D"/>
                </a:solidFill>
                <a:ea typeface="Hiragino Sans"/>
                <a:latin typeface="Hiragino Sans"/>
              </a:rPr>
              <a:t>がそのまま反映される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463040"/>
            <a:ext cx="5394960" cy="45720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14630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ea typeface="Hiragino Sans"/>
                <a:latin typeface="Hiragino Sans"/>
              </a:rPr>
              <a:t>中間生成物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1920240"/>
            <a:ext cx="3474720" cy="6400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92640" y="1920240"/>
            <a:ext cx="1920240" cy="6400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192024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6C757D"/>
                </a:solidFill>
                <a:ea typeface="Hiragino Sans"/>
                <a:latin typeface="Hiragino Sans"/>
              </a:rPr>
              <a:t>ファイル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1920240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6C757D"/>
                </a:solidFill>
                <a:ea typeface="Hiragino Sans"/>
                <a:latin typeface="Hiragino Sans"/>
              </a:rPr>
              <a:t>残るか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2560320"/>
            <a:ext cx="539496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3190875"/>
            <a:ext cx="5394960" cy="9525"/>
          </a:xfrm>
          <a:prstGeom prst="rect">
            <a:avLst/>
          </a:prstGeom>
          <a:solidFill>
            <a:srgbClr val="D5D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256032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2C3E50"/>
                </a:solidFill>
                <a:ea typeface="Hiragino Sans"/>
                <a:latin typeface="Hiragino Sans"/>
              </a:rPr>
              <a:t>Python コード (build.py)</a:t>
            </a:r>
          </a:p>
        </p:txBody>
      </p:sp>
      <p:sp>
        <p:nvSpPr>
          <p:cNvPr id="31" name="Oval 30"/>
          <p:cNvSpPr/>
          <p:nvPr/>
        </p:nvSpPr>
        <p:spPr>
          <a:xfrm>
            <a:off x="9774936" y="2734056"/>
            <a:ext cx="292608" cy="292608"/>
          </a:xfrm>
          <a:prstGeom prst="ellipse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74936" y="273405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ea typeface="Hiragino Sans"/>
                <a:latin typeface="Hiragino Sans"/>
              </a:rPr>
              <a:t>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0" y="256032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C757D"/>
                </a:solidFill>
                <a:ea typeface="Hiragino Sans"/>
                <a:latin typeface="Hiragino Sans"/>
              </a:rPr>
              <a:t>削除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3200400"/>
            <a:ext cx="5394960" cy="6400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3830955"/>
            <a:ext cx="5394960" cy="9525"/>
          </a:xfrm>
          <a:prstGeom prst="rect">
            <a:avLst/>
          </a:prstGeom>
          <a:solidFill>
            <a:srgbClr val="D5D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320040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2C3E50"/>
                </a:solidFill>
                <a:ea typeface="Hiragino Sans"/>
                <a:latin typeface="Hiragino Sans"/>
              </a:rPr>
              <a:t>検証用 JPEG (1 枚ずつ画像化)</a:t>
            </a:r>
          </a:p>
        </p:txBody>
      </p:sp>
      <p:sp>
        <p:nvSpPr>
          <p:cNvPr id="37" name="Oval 36"/>
          <p:cNvSpPr/>
          <p:nvPr/>
        </p:nvSpPr>
        <p:spPr>
          <a:xfrm>
            <a:off x="9774936" y="3374136"/>
            <a:ext cx="292608" cy="292608"/>
          </a:xfrm>
          <a:prstGeom prst="ellipse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74936" y="337413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ea typeface="Hiragino Sans"/>
                <a:latin typeface="Hiragino Sans"/>
              </a:rPr>
              <a:t>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49840" y="320040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C757D"/>
                </a:solidFill>
                <a:ea typeface="Hiragino Sans"/>
                <a:latin typeface="Hiragino Sans"/>
              </a:rPr>
              <a:t>削除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3840480"/>
            <a:ext cx="539496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0" y="4471035"/>
            <a:ext cx="5394960" cy="9525"/>
          </a:xfrm>
          <a:prstGeom prst="rect">
            <a:avLst/>
          </a:prstGeom>
          <a:solidFill>
            <a:srgbClr val="D5D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384048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2C3E50"/>
                </a:solidFill>
                <a:ea typeface="Hiragino Sans"/>
                <a:latin typeface="Hiragino Sans"/>
              </a:rPr>
              <a:t>検証用 PDF (10 枚通し)</a:t>
            </a:r>
          </a:p>
        </p:txBody>
      </p:sp>
      <p:sp>
        <p:nvSpPr>
          <p:cNvPr id="43" name="Oval 42"/>
          <p:cNvSpPr/>
          <p:nvPr/>
        </p:nvSpPr>
        <p:spPr>
          <a:xfrm>
            <a:off x="9774936" y="4014216"/>
            <a:ext cx="292608" cy="292608"/>
          </a:xfrm>
          <a:prstGeom prst="ellipse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74936" y="401421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ea typeface="Hiragino Sans"/>
                <a:latin typeface="Hiragino Sans"/>
              </a:rPr>
              <a:t>×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49840" y="384048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C757D"/>
                </a:solidFill>
                <a:ea typeface="Hiragino Sans"/>
                <a:latin typeface="Hiragino Sans"/>
              </a:rPr>
              <a:t>削除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4480560"/>
            <a:ext cx="5394960" cy="6400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17920" y="5111115"/>
            <a:ext cx="5394960" cy="9525"/>
          </a:xfrm>
          <a:prstGeom prst="rect">
            <a:avLst/>
          </a:prstGeom>
          <a:solidFill>
            <a:srgbClr val="D5D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46520" y="448056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2C3E50"/>
                </a:solidFill>
                <a:ea typeface="Hiragino Sans"/>
                <a:latin typeface="Hiragino Sans"/>
              </a:rPr>
              <a:t>最終 .pptx</a:t>
            </a:r>
          </a:p>
        </p:txBody>
      </p:sp>
      <p:sp>
        <p:nvSpPr>
          <p:cNvPr id="49" name="Oval 48"/>
          <p:cNvSpPr/>
          <p:nvPr/>
        </p:nvSpPr>
        <p:spPr>
          <a:xfrm>
            <a:off x="9774936" y="4654296"/>
            <a:ext cx="292608" cy="292608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774936" y="465429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ea typeface="Hiragino Sans"/>
                <a:latin typeface="Hiragino Sans"/>
              </a:rP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49840" y="448056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A9D8F"/>
                </a:solidFill>
                <a:ea typeface="Hiragino Sans"/>
                <a:latin typeface="Hiragino Sans"/>
              </a:rPr>
              <a:t>残る (納品物)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0" y="525780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C757D"/>
                </a:solidFill>
                <a:ea typeface="Hiragino Sans"/>
                <a:latin typeface="Hiragino Sans"/>
              </a:rPr>
              <a:t>→ JPEG / PDF で目視チェックしてから完成 PPT を確定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C757D"/>
                </a:solidFill>
                <a:ea typeface="Hiragino Sans"/>
                <a:latin typeface="Hiragino Sans"/>
              </a:rPr>
              <a:t>Claude Code × PowerPoint 解説 | 2026-06-02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24160" y="653796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C757D"/>
                </a:solidFill>
                <a:ea typeface="Hiragino Sans"/>
                <a:latin typeface="Hiragino Sans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64592" cy="54864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8463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2E5C8A"/>
                </a:solidFill>
                <a:ea typeface="Hiragino Sans"/>
                <a:latin typeface="Hiragino Sans"/>
              </a:rPr>
              <a:t>ステップ ⑤   Google Drive に納品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2E5C8A"/>
                </a:solidFill>
                <a:ea typeface="Hiragino Sans"/>
                <a:latin typeface="Hiragino Sans"/>
              </a:rPr>
              <a:t>自動アップロードの流れ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320040" cy="320040"/>
          </a:xfrm>
          <a:prstGeom prst="round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ea typeface="Hiragino Sans"/>
                <a:latin typeface="Hiragino Sa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103120"/>
            <a:ext cx="4983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C3E50"/>
                </a:solidFill>
                <a:ea typeface="Hiragino Sans"/>
                <a:latin typeface="Hiragino Sans"/>
              </a:rPr>
              <a:t>完成 .pptx を指定 Drive フォルダに自動アップ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743200"/>
            <a:ext cx="320040" cy="320040"/>
          </a:xfrm>
          <a:prstGeom prst="round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ea typeface="Hiragino Sans"/>
                <a:latin typeface="Hiragino San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743200"/>
            <a:ext cx="4983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C3E50"/>
                </a:solidFill>
                <a:ea typeface="Hiragino Sans"/>
                <a:latin typeface="Hiragino Sans"/>
              </a:rPr>
              <a:t>今回の例 :  マイドライブ/Uni'son社/PPT例/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383280"/>
            <a:ext cx="320040" cy="320040"/>
          </a:xfrm>
          <a:prstGeom prst="round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38328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ea typeface="Hiragino Sans"/>
                <a:latin typeface="Hiragino San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383280"/>
            <a:ext cx="4983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C3E50"/>
                </a:solidFill>
                <a:ea typeface="Hiragino Sans"/>
                <a:latin typeface="Hiragino Sans"/>
              </a:rPr>
              <a:t>フォルダがなければ自動作成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23360"/>
            <a:ext cx="320040" cy="320040"/>
          </a:xfrm>
          <a:prstGeom prst="round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02336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ea typeface="Hiragino Sans"/>
                <a:latin typeface="Hiragino San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023360"/>
            <a:ext cx="4983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C3E50"/>
                </a:solidFill>
                <a:ea typeface="Hiragino Sans"/>
                <a:latin typeface="Hiragino Sans"/>
              </a:rPr>
              <a:t>リンクが返ってくる → そのまま Slack/Teams 共有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1463040"/>
            <a:ext cx="5029200" cy="21031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0" y="1463040"/>
            <a:ext cx="109728" cy="2103120"/>
          </a:xfrm>
          <a:prstGeom prst="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03720" y="16459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6C757D"/>
                </a:solidFill>
                <a:ea typeface="Hiragino Sans"/>
                <a:latin typeface="Hiragino Sans"/>
              </a:rPr>
              <a:t>Before  (手作業)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2194560"/>
            <a:ext cx="45720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2C3E50"/>
                </a:solidFill>
                <a:ea typeface="Hiragino Sans"/>
                <a:latin typeface="Hiragino Sans"/>
              </a:rPr>
              <a:t>1.  ローカルに保存</a:t>
            </a:r>
          </a:p>
          <a:p>
            <a:pPr algn="l">
              <a:lnSpc>
                <a:spcPct val="170000"/>
              </a:lnSpc>
            </a:pPr>
            <a:r>
              <a:rPr sz="1200" b="0">
                <a:solidFill>
                  <a:srgbClr val="2C3E50"/>
                </a:solidFill>
                <a:ea typeface="Hiragino Sans"/>
                <a:latin typeface="Hiragino Sans"/>
              </a:rPr>
              <a:t>2.  ブラウザで Drive を開く</a:t>
            </a:r>
          </a:p>
          <a:p>
            <a:pPr algn="l">
              <a:lnSpc>
                <a:spcPct val="170000"/>
              </a:lnSpc>
            </a:pPr>
            <a:r>
              <a:rPr sz="1200" b="0">
                <a:solidFill>
                  <a:srgbClr val="2C3E50"/>
                </a:solidFill>
                <a:ea typeface="Hiragino Sans"/>
                <a:latin typeface="Hiragino Sans"/>
              </a:rPr>
              <a:t>3.  ドラッグ &amp; ドロップ</a:t>
            </a:r>
          </a:p>
          <a:p>
            <a:pPr algn="l">
              <a:lnSpc>
                <a:spcPct val="170000"/>
              </a:lnSpc>
            </a:pPr>
            <a:r>
              <a:rPr sz="1200" b="0">
                <a:solidFill>
                  <a:srgbClr val="2C3E50"/>
                </a:solidFill>
                <a:ea typeface="Hiragino Sans"/>
                <a:latin typeface="Hiragino Sans"/>
              </a:rPr>
              <a:t>4.  共有設定 (権限・リンク発行)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3794760"/>
            <a:ext cx="5029200" cy="2240280"/>
          </a:xfrm>
          <a:prstGeom prst="rect">
            <a:avLst/>
          </a:prstGeom>
          <a:solidFill>
            <a:srgbClr val="FFFFFF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0" y="3794760"/>
            <a:ext cx="109728" cy="22402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03720" y="39776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2A9D8F"/>
                </a:solidFill>
                <a:ea typeface="Hiragino Sans"/>
                <a:latin typeface="Hiragino Sans"/>
              </a:rPr>
              <a:t>After  (今回)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4572000"/>
            <a:ext cx="457200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300" b="0">
                <a:solidFill>
                  <a:srgbClr val="2C3E50"/>
                </a:solidFill>
                <a:ea typeface="Hiragino Sans"/>
                <a:latin typeface="Hiragino Sans"/>
              </a:rPr>
              <a:t>指示一言で完了</a:t>
            </a:r>
          </a:p>
          <a:p>
            <a:pPr algn="l">
              <a:lnSpc>
                <a:spcPct val="170000"/>
              </a:lnSpc>
            </a:pPr>
            <a:r>
              <a:rPr sz="1300" b="0">
                <a:solidFill>
                  <a:srgbClr val="2C3E50"/>
                </a:solidFill>
                <a:ea typeface="Hiragino Sans"/>
                <a:latin typeface="Hiragino Sans"/>
              </a:rPr>
              <a:t>「ユニゾン社の PPT 例フォルダに置いて」と書くだけ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C757D"/>
                </a:solidFill>
                <a:ea typeface="Hiragino Sans"/>
                <a:latin typeface="Hiragino Sans"/>
              </a:rPr>
              <a:t>Claude Code × PowerPoint 解説 | 2026-06-02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53796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C757D"/>
                </a:solidFill>
                <a:ea typeface="Hiragino Sans"/>
                <a:latin typeface="Hiragino Sans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64592" cy="54864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8463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2E5C8A"/>
                </a:solidFill>
                <a:ea typeface="Hiragino Sans"/>
                <a:latin typeface="Hiragino Sans"/>
              </a:rPr>
              <a:t>社内テンプレートがあると、もっと楽になる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2E5C8A"/>
                </a:solidFill>
                <a:ea typeface="Hiragino Sans"/>
                <a:latin typeface="Hiragino Sans"/>
              </a:rPr>
              <a:t>インプット (次回想定)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5943600" cy="32918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6C757D"/>
                </a:solidFill>
                <a:ea typeface="Consolas"/>
                <a:latin typeface="Consolas"/>
              </a:rPr>
              <a:t>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69748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2C3E50"/>
                </a:solidFill>
                <a:ea typeface="Hiragino Sans"/>
                <a:latin typeface="Hiragino Sans"/>
              </a:rPr>
              <a:t>田中さんからの指示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747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6C757D"/>
                </a:solidFill>
                <a:ea typeface="Consolas"/>
                <a:latin typeface="Consolas"/>
              </a:rPr>
              <a:t>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52044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2C3E50"/>
                </a:solidFill>
                <a:ea typeface="Hiragino Sans"/>
                <a:latin typeface="Hiragino Sans"/>
              </a:rPr>
              <a:t>ホームページ (外部ソース)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2976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6C757D"/>
                </a:solidFill>
                <a:ea typeface="Consolas"/>
                <a:latin typeface="Consolas"/>
              </a:rPr>
              <a:t>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3434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76F51"/>
                </a:solidFill>
                <a:ea typeface="Hiragino Sans"/>
                <a:latin typeface="Hiragino Sans"/>
              </a:rPr>
              <a:t>corporate-template.pptx   ← ★ ここを追加するだけ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1463040"/>
            <a:ext cx="4754880" cy="45720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146304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ea typeface="Hiragino Sans"/>
                <a:latin typeface="Hiragino Sans"/>
              </a:rPr>
              <a:t>テンプレを足すと何が起こるか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920240"/>
            <a:ext cx="4754880" cy="34747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23176" y="2322576"/>
            <a:ext cx="292608" cy="292608"/>
          </a:xfrm>
          <a:prstGeom prst="ellipse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23176" y="232257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ea typeface="Hiragino Sans"/>
                <a:latin typeface="Hiragino San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2240280"/>
            <a:ext cx="3749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C3E50"/>
                </a:solidFill>
                <a:ea typeface="Hiragino Sans"/>
                <a:latin typeface="Hiragino Sans"/>
              </a:rPr>
              <a:t>会社カラー・ロゴが自動で全スライドに入る</a:t>
            </a:r>
          </a:p>
        </p:txBody>
      </p:sp>
      <p:sp>
        <p:nvSpPr>
          <p:cNvPr id="19" name="Oval 18"/>
          <p:cNvSpPr/>
          <p:nvPr/>
        </p:nvSpPr>
        <p:spPr>
          <a:xfrm>
            <a:off x="7123176" y="3282696"/>
            <a:ext cx="292608" cy="292608"/>
          </a:xfrm>
          <a:prstGeom prst="ellipse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23176" y="328269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ea typeface="Hiragino Sans"/>
                <a:latin typeface="Hiragino San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3200400"/>
            <a:ext cx="3749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C3E50"/>
                </a:solidFill>
                <a:ea typeface="Hiragino Sans"/>
                <a:latin typeface="Hiragino Sans"/>
              </a:rPr>
              <a:t>既存レイアウト (2 カラム比較 / 表紙 / 中扉) を活用</a:t>
            </a:r>
          </a:p>
        </p:txBody>
      </p:sp>
      <p:sp>
        <p:nvSpPr>
          <p:cNvPr id="22" name="Oval 21"/>
          <p:cNvSpPr/>
          <p:nvPr/>
        </p:nvSpPr>
        <p:spPr>
          <a:xfrm>
            <a:off x="7123176" y="4242816"/>
            <a:ext cx="292608" cy="292608"/>
          </a:xfrm>
          <a:prstGeom prst="ellipse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23176" y="424281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ea typeface="Hiragino Sans"/>
                <a:latin typeface="Hiragino San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4160520"/>
            <a:ext cx="3749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C3E50"/>
                </a:solidFill>
                <a:ea typeface="Hiragino Sans"/>
                <a:latin typeface="Hiragino Sans"/>
              </a:rPr>
              <a:t>ブランドの統一感が出る (推測より高精度)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577840"/>
            <a:ext cx="109728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57784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C3E50"/>
                </a:solidFill>
                <a:ea typeface="Hiragino Sans"/>
                <a:latin typeface="Hiragino Sans"/>
              </a:rPr>
              <a:t>PowerPoint の「スライドマスター」に必要レイアウトを登録した .pptx を 1 本作っておけば、以後すべての営業資料がそれベースで作られる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C757D"/>
                </a:solidFill>
                <a:ea typeface="Hiragino Sans"/>
                <a:latin typeface="Hiragino Sans"/>
              </a:rPr>
              <a:t>Claude Code × PowerPoint 解説 | 2026-06-02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53796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C757D"/>
                </a:solidFill>
                <a:ea typeface="Hiragino Sans"/>
                <a:latin typeface="Hiragino Sans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64592" cy="54864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8463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2E5C8A"/>
                </a:solidFill>
                <a:ea typeface="Hiragino Sans"/>
                <a:latin typeface="Hiragino Sans"/>
              </a:rPr>
              <a:t>まとめ — 覚えてほしい 4 つ + 本格運用への次の一歩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2E5C8A"/>
                </a:solidFill>
                <a:ea typeface="Hiragino Sans"/>
                <a:latin typeface="Hiragino Sans"/>
              </a:rPr>
              <a:t>覚えてほしい 4 つ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5486400" cy="9144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91440" cy="91440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2E5C8A"/>
                </a:solidFill>
                <a:ea typeface="Hiragino Sans"/>
                <a:latin typeface="Hiragino Sans"/>
              </a:rPr>
              <a:t>①  2 段階で作る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060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C3E50"/>
                </a:solidFill>
                <a:ea typeface="Hiragino Sans"/>
                <a:latin typeface="Hiragino Sans"/>
              </a:rPr>
              <a:t>構成案 (Markdown) を先に作って合意 → PowerPoint 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154680"/>
            <a:ext cx="5486400" cy="9144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154680"/>
            <a:ext cx="91440" cy="91440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4612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2E5C8A"/>
                </a:solidFill>
                <a:ea typeface="Hiragino Sans"/>
                <a:latin typeface="Hiragino Sans"/>
              </a:rPr>
              <a:t>②  インプットは複数 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576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C3E50"/>
                </a:solidFill>
                <a:ea typeface="Hiragino Sans"/>
                <a:latin typeface="Hiragino Sans"/>
              </a:rPr>
              <a:t>プロンプト + ホームページ + 過去資料 + 会社テンプレ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206240"/>
            <a:ext cx="5486400" cy="9144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206240"/>
            <a:ext cx="91440" cy="91440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29768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2E5C8A"/>
                </a:solidFill>
                <a:ea typeface="Hiragino Sans"/>
                <a:latin typeface="Hiragino Sans"/>
              </a:rPr>
              <a:t>③  検証も自動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7091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C3E50"/>
                </a:solidFill>
                <a:ea typeface="Hiragino Sans"/>
                <a:latin typeface="Hiragino Sans"/>
              </a:rPr>
              <a:t>完成 pptx と一緒に JPEG / PDF が出るので目視確認も簡単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257800"/>
            <a:ext cx="5486400" cy="9144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5257800"/>
            <a:ext cx="91440" cy="91440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34924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2E5C8A"/>
                </a:solidFill>
                <a:ea typeface="Hiragino Sans"/>
                <a:latin typeface="Hiragino Sans"/>
              </a:rPr>
              <a:t>④  納品まで自動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7607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C3E50"/>
                </a:solidFill>
                <a:ea typeface="Hiragino Sans"/>
                <a:latin typeface="Hiragino Sans"/>
              </a:rPr>
              <a:t>Google Drive アップロードまで一連の流れで完結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46304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2A9D8F"/>
                </a:solidFill>
                <a:ea typeface="Hiragino Sans"/>
                <a:latin typeface="Hiragino Sans"/>
              </a:rPr>
              <a:t>社内で本格運用するなら次に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103120"/>
            <a:ext cx="521208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75120" y="237744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23760" y="2194560"/>
            <a:ext cx="4206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2C3E50"/>
                </a:solidFill>
                <a:ea typeface="Hiragino Sans"/>
                <a:latin typeface="Hiragino Sans"/>
              </a:rPr>
              <a:t>会社テンプレ .pptx を 1 本作る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154680"/>
            <a:ext cx="521208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75120" y="342900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60" y="3246120"/>
            <a:ext cx="4206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2C3E50"/>
                </a:solidFill>
                <a:ea typeface="Hiragino Sans"/>
                <a:latin typeface="Hiragino Sans"/>
              </a:rPr>
              <a:t>過去の良かった営業資料を 1 つ用意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4206240"/>
            <a:ext cx="521208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75120" y="448056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3760" y="4297680"/>
            <a:ext cx="4206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2C3E50"/>
                </a:solidFill>
                <a:ea typeface="Hiragino Sans"/>
                <a:latin typeface="Hiragino Sans"/>
              </a:rPr>
              <a:t>想定 Drive フォルダを決める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5257800"/>
            <a:ext cx="521208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75120" y="553212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23760" y="5349240"/>
            <a:ext cx="4206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2C3E50"/>
                </a:solidFill>
                <a:ea typeface="Hiragino Sans"/>
                <a:latin typeface="Hiragino Sans"/>
              </a:rPr>
              <a:t>指示テンプレを作る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2C3E50"/>
                </a:solidFill>
                <a:ea typeface="Hiragino Sans"/>
                <a:latin typeface="Hiragino Sans"/>
              </a:rPr>
              <a:t>(「○○社向け、××業界、ターゲットは△△」)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C757D"/>
                </a:solidFill>
                <a:ea typeface="Hiragino Sans"/>
                <a:latin typeface="Hiragino Sans"/>
              </a:rPr>
              <a:t>Claude Code × PowerPoint 解説 | 2026-06-02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4160" y="653796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C757D"/>
                </a:solidFill>
                <a:ea typeface="Hiragino Sans"/>
                <a:latin typeface="Hiragino Sans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