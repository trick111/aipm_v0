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8775" cy="182880"/>
          </a:xfrm>
          <a:prstGeom prst="rect">
            <a:avLst/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教育資料 / for 飯竹さん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Claude Code で PowerPoint を作るとき、</a:t>
            </a:r>
          </a:p>
          <a:p>
            <a:pPr algn="l"/>
            <a:r>
              <a:rPr sz="3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裏で何が動いているか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python-pptx と pptxGenJs、2 つの経路の中身を解剖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2286000" cy="36576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For 飯竹さん  |  2026-06-02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全体像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3264" y="1234440"/>
            <a:ext cx="2926080" cy="5029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田中さんからの指示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50000" y="1783080"/>
            <a:ext cx="292608" cy="27432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5984" y="2103120"/>
            <a:ext cx="5120640" cy="8686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メインの Claude Code エージェント</a:t>
            </a:r>
          </a:p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指示理解 / 外部情報取得 / 仕様書作成 / サブエージェント指揮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0000" y="3017520"/>
            <a:ext cx="292608" cy="22860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2468880" cy="77724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① 外部ソース</a:t>
            </a:r>
          </a:p>
          <a:p>
            <a:pPr algn="ctr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uni-s-on.com / Playwright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3337560"/>
            <a:ext cx="2468880" cy="77724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② 共通仕様書</a:t>
            </a:r>
          </a:p>
          <a:p>
            <a:pPr algn="ctr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slide_spec.md / design_tokens.json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4114800"/>
            <a:ext cx="36576" cy="32004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05872" y="4114800"/>
            <a:ext cx="36576" cy="32004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416552"/>
            <a:ext cx="8686800" cy="36576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950000" y="4416552"/>
            <a:ext cx="292608" cy="22860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3024" y="4736592"/>
            <a:ext cx="6766560" cy="86868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Anthropic 公式 pptx スキル</a:t>
            </a:r>
          </a:p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SKILL.md  /  editing.md (Python)  /  pptxgenjs.md (JS)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45536" y="5413248"/>
            <a:ext cx="292608" cy="18288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8723376" y="5413248"/>
            <a:ext cx="292608" cy="18288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5394960"/>
            <a:ext cx="5577840" cy="36576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8016" y="5605272"/>
            <a:ext cx="36576" cy="16459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63040" y="5669280"/>
            <a:ext cx="3657600" cy="7772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サブエージェント A (Python)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→ deck-unison-python-pptx.pptx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5669280"/>
            <a:ext cx="3657600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サブエージェント B (JavaScript)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→ deck-unison-pptxgenjs.pptx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この資料に出てくる登場人物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78308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カテゴリ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417320"/>
            <a:ext cx="210312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名前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17320"/>
            <a:ext cx="466344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何者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417320"/>
            <a:ext cx="2606040" cy="457200"/>
          </a:xfrm>
          <a:prstGeom prst="rect">
            <a:avLst/>
          </a:prstGeom>
          <a:solidFill>
            <a:srgbClr val="2C3E50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場所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20"/>
            <a:ext cx="1783080" cy="566928"/>
          </a:xfrm>
          <a:prstGeom prst="rect">
            <a:avLst/>
          </a:prstGeom>
          <a:solidFill>
            <a:srgbClr val="6C757D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スキル (1つだけ)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74520"/>
            <a:ext cx="2103120" cy="566928"/>
          </a:xfrm>
          <a:prstGeom prst="rect">
            <a:avLst/>
          </a:prstGeom>
          <a:solidFill>
            <a:srgbClr val="6C757D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Anthropic 公式 pptx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74520"/>
            <a:ext cx="4663440" cy="566928"/>
          </a:xfrm>
          <a:prstGeom prst="rect">
            <a:avLst/>
          </a:prstGeom>
          <a:solidFill>
            <a:srgbClr val="6C757D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pptx の作り方指示書 + 低レベル部品。Python 用と JS 用が同梱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874520"/>
            <a:ext cx="2606040" cy="566928"/>
          </a:xfrm>
          <a:prstGeom prst="rect">
            <a:avLst/>
          </a:prstGeom>
          <a:solidFill>
            <a:srgbClr val="6C757D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~/.claude/skills/pptx/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41448"/>
            <a:ext cx="178308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メインエージェント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441448"/>
            <a:ext cx="210312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Claude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441448"/>
            <a:ext cx="46634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指示理解 / 外部情報収集 / 仕様書作成 / 指揮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441448"/>
            <a:ext cx="26060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ローカル PC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1783080" cy="566928"/>
          </a:xfrm>
          <a:prstGeom prst="rect">
            <a:avLst/>
          </a:prstGeom>
          <a:solidFill>
            <a:srgbClr val="2E5C8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サブエージェント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008376"/>
            <a:ext cx="2103120" cy="566928"/>
          </a:xfrm>
          <a:prstGeom prst="rect">
            <a:avLst/>
          </a:prstGeom>
          <a:solidFill>
            <a:srgbClr val="2E5C8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general-purpose (Python)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008376"/>
            <a:ext cx="4663440" cy="566928"/>
          </a:xfrm>
          <a:prstGeom prst="rect">
            <a:avLst/>
          </a:prstGeom>
          <a:solidFill>
            <a:srgbClr val="2E5C8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スキルを読み Python コードを書いて実行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3008376"/>
            <a:ext cx="2606040" cy="566928"/>
          </a:xfrm>
          <a:prstGeom prst="rect">
            <a:avLst/>
          </a:prstGeom>
          <a:solidFill>
            <a:srgbClr val="2E5C8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ローカル PC (別コンテキスト)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75304"/>
            <a:ext cx="1783080" cy="566928"/>
          </a:xfrm>
          <a:prstGeom prst="rect">
            <a:avLst/>
          </a:prstGeom>
          <a:solidFill>
            <a:srgbClr val="2A9D8F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サブエージェント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575304"/>
            <a:ext cx="2103120" cy="566928"/>
          </a:xfrm>
          <a:prstGeom prst="rect">
            <a:avLst/>
          </a:prstGeom>
          <a:solidFill>
            <a:srgbClr val="2A9D8F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general-purpose (JS)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575304"/>
            <a:ext cx="4663440" cy="566928"/>
          </a:xfrm>
          <a:prstGeom prst="rect">
            <a:avLst/>
          </a:prstGeom>
          <a:solidFill>
            <a:srgbClr val="2A9D8F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スキルを読み Node コードを書いて実行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575304"/>
            <a:ext cx="2606040" cy="566928"/>
          </a:xfrm>
          <a:prstGeom prst="rect">
            <a:avLst/>
          </a:prstGeom>
          <a:solidFill>
            <a:srgbClr val="2A9D8F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ローカル PC (別コンテキスト)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42232"/>
            <a:ext cx="178308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外部ソース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142232"/>
            <a:ext cx="210312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uni-s-on.com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142232"/>
            <a:ext cx="46634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ブランドカラー / フォント / 画像の取得元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4142232"/>
            <a:ext cx="26060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Web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11173968" cy="960120"/>
          </a:xfrm>
          <a:prstGeom prst="roundRect">
            <a:avLst/>
          </a:prstGeom>
          <a:solidFill>
            <a:srgbClr val="E3ECF5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ポイント:「python-pptx 用」「pptxGenJs 用」スキルは別物ではない。</a:t>
            </a:r>
          </a:p>
          <a:p>
            <a:pPr algn="ctr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Anthropic 公式の 1 つの pptx スキルに、両方の作法が同梱されている。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使った CLI / API / ライブラリ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331720" cy="36576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何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325880"/>
            <a:ext cx="1874519" cy="36576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種別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59" y="1325880"/>
            <a:ext cx="5138928" cy="36576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9848087" y="1325880"/>
            <a:ext cx="1828800" cy="36576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経路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Playwright 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9164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69164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uni-s-on.com を開いて色 / フォント / 画像 URL を抽出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48087" y="169164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5740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205740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画像をローカルにダウンロード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7" y="205740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2316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42316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CLI (macOS)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42316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画像を 1920px にリサイズ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48087" y="242316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8892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Anthropic 公式 pptx スキル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78892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スキル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78892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サブエージェントが pptx の作法を学ぶ指示書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48087" y="278892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15468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python-pptx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15468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ライブラリ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59" y="315468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 の XML をオブジェクト操作で生成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48087" y="3154680"/>
            <a:ext cx="1828800" cy="365760"/>
          </a:xfrm>
          <a:prstGeom prst="rect">
            <a:avLst/>
          </a:prstGeom>
          <a:solidFill>
            <a:srgbClr val="2E5C8A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2044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cairosvg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52044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ライブラリ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352044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SVG ロゴを PNG に変換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48087" y="3520440"/>
            <a:ext cx="1828800" cy="365760"/>
          </a:xfrm>
          <a:prstGeom prst="rect">
            <a:avLst/>
          </a:prstGeom>
          <a:solidFill>
            <a:srgbClr val="2E5C8A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8620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lxml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88620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ライブラリ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59" y="388620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 内部 XML を直接編集 (半透明 等)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8087" y="3886200"/>
            <a:ext cx="1828800" cy="365760"/>
          </a:xfrm>
          <a:prstGeom prst="rect">
            <a:avLst/>
          </a:prstGeom>
          <a:solidFill>
            <a:srgbClr val="2E5C8A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Python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5196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pptxgenjs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25196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Node ライブラリ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59" y="425196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 を宣言的 API で生成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48087" y="4251960"/>
            <a:ext cx="1828800" cy="365760"/>
          </a:xfrm>
          <a:prstGeom prst="rect">
            <a:avLst/>
          </a:prstGeom>
          <a:solidFill>
            <a:srgbClr val="2A9D8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JS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61772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gray-matter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61772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Node ライブラリ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9159" y="461772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Markdown のフロントマターを剥がす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48087" y="4617720"/>
            <a:ext cx="1828800" cy="365760"/>
          </a:xfrm>
          <a:prstGeom prst="rect">
            <a:avLst/>
          </a:prstGeom>
          <a:solidFill>
            <a:srgbClr val="2A9D8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JS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8348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markitdown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98348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CLI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9159" y="498348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生成された pptx からテキスト抽出 (検証)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48087" y="498348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349240"/>
            <a:ext cx="2331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gws drive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5349240"/>
            <a:ext cx="187451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CLI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59" y="5349240"/>
            <a:ext cx="51389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0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Google Drive にアップロード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48087" y="5349240"/>
            <a:ext cx="1828800" cy="365760"/>
          </a:xfrm>
          <a:prstGeom prst="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0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共通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凡例: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440" y="5806440"/>
            <a:ext cx="274320" cy="1828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63624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のみ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5806440"/>
            <a:ext cx="274320" cy="182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JS のみ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5806440"/>
            <a:ext cx="274320" cy="18288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6904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両方共通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1 — Python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A が受け取ったもの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550408" cy="23317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550408" cy="1645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仕様書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slide_spec.md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0017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人間が書いた 10 スライドの指示書</a:t>
            </a:r>
          </a:p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(タイトル / レイアウト / コピー)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550408" cy="23317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5550408" cy="1645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20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デザイントークン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1488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design_tokens.json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34640"/>
            <a:ext cx="50017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色 #7297A9 / #126D64 / #F09D01</a:t>
            </a:r>
          </a:p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Noto Sans JP / 13.333×7.5 inch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05072"/>
            <a:ext cx="5550408" cy="23317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05072"/>
            <a:ext cx="5550408" cy="1645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370832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0832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画像アセット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45152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assets/unison/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30952"/>
            <a:ext cx="50017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ホームページから取得した</a:t>
            </a:r>
          </a:p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ヒーロー画像 7 枚 + ロゴ + CTA 背景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005072"/>
            <a:ext cx="5550408" cy="233172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005072"/>
            <a:ext cx="5550408" cy="16459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4370832"/>
            <a:ext cx="502920" cy="502920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70832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公式スキル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45152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SKILL.md + editing.md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330952"/>
            <a:ext cx="50017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Anthropic 公式 pptx スキル。</a:t>
            </a:r>
          </a:p>
          <a:p>
            <a:pPr algn="l"/>
            <a:r>
              <a:rPr sz="12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用の作法を学習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1 — Python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A の動き (Step 1 → 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148590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SKILL.md と editing.md を読む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6304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 の方針を学習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203454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slide_spec.md を読む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01168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10 スライドのレイアウトを把握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58318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design_tokens.json を読む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6032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色・フォント・サイズの定数を把握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6324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13182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08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assets/unison/ をリスト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0896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使える画像 / SVG ロゴを確認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11173968" cy="502920"/>
          </a:xfrm>
          <a:prstGeom prst="roundRect">
            <a:avLst/>
          </a:prstGeom>
          <a:solidFill>
            <a:srgbClr val="FCE5DD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3680460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詰まりに対処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5760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SVG→PNG (cairosvg) / 半透明オーバーレイ (lxml) / 角丸の重ね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052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422910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/tmp/build_unison_deck.py を書く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0624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Presentation() で 10 スライド分の shape を配置 (約 600 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0916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477774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54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python3 で実行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75488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pptx ファイルを生成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5780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2648" y="532638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035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生成物を検証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python-pptx で開き直し + LibreOffice → PDF → 画像で目視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11173968" cy="502920"/>
          </a:xfrm>
          <a:prstGeom prst="roundRect">
            <a:avLst/>
          </a:prstGeom>
          <a:solidFill>
            <a:srgbClr val="FCE5DD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2648" y="5875020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8521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/tmp の Python コードを削除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5216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永続化しない — プロジェクトに残すのは .pptx だけ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1 — Python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中間生成物 (捨てる) と 最終生成物 (残す)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50408" cy="4663440"/>
          </a:xfrm>
          <a:prstGeom prst="roundRect">
            <a:avLst/>
          </a:prstGeom>
          <a:solidFill>
            <a:srgbClr val="FCE5DD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50408" cy="5029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5001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[ × ]  中間生成物 / 一時ファイル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/tmp/build_unison_deck.py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サブエージェントが書いた Python コード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8152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/tmp/logo-white.png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6440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cairosvg で変換した PNG ロゴ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5876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/tmp/deck-unison-python-pptx.pdf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4164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検証用 PDF (LibreOffice)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63600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/tmp/unison-slide-*.jpg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1888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検証用にスライド毎の 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5001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→ すべて実行後に削除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5550408" cy="4663440"/>
          </a:xfrm>
          <a:prstGeom prst="roundRect">
            <a:avLst/>
          </a:prstGeom>
          <a:solidFill>
            <a:srgbClr val="E3ECF5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417320"/>
            <a:ext cx="5550408" cy="5029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90472"/>
            <a:ext cx="5001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[ ○ ]  最終生成物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514600"/>
            <a:ext cx="47274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697480"/>
            <a:ext cx="4453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5C8A"/>
                </a:solidFill>
                <a:ea typeface="Menlo"/>
                <a:latin typeface="Menlo"/>
                <a:cs typeface="Menlo"/>
              </a:rPr>
              <a:t>deck-unison-python-pptx.pptx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200400"/>
            <a:ext cx="4453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1.2 MB / 10 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4453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テキスト編集可な PowerPoint。</a:t>
            </a:r>
          </a:p>
          <a:p>
            <a:pPr algn="l"/>
            <a:r>
              <a:rPr sz="12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そのまま PowerPoint で開ける。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03520"/>
            <a:ext cx="5001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→ プロジェクトフォルダに残す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2 — JavaScript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B が受け取ったもの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73968" cy="777240"/>
          </a:xfrm>
          <a:prstGeom prst="roundRect">
            <a:avLst/>
          </a:prstGeom>
          <a:solidFill>
            <a:srgbClr val="DDF1EE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22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= Python 経路と完全に同じインプット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2715768" cy="201168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2715768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9344" y="283464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仕様書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slide_spec.md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715768" cy="201168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2715768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43984" y="283464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290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デザイントークン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4904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design_tokens.json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68880"/>
            <a:ext cx="2715768" cy="201168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468880"/>
            <a:ext cx="2715768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78624" y="283464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4290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画像アセット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4904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assets/unison/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468880"/>
            <a:ext cx="2715768" cy="201168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2468880"/>
            <a:ext cx="2715768" cy="16459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13264" y="2834640"/>
            <a:ext cx="502920" cy="502920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4290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公式スキル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4904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SKILL.md +</a:t>
            </a:r>
          </a:p>
          <a:p>
            <a:pPr algn="ctr"/>
            <a:r>
              <a:rPr sz="13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pptxgenjs.md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173968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rIns="300000" tIns="30000" bIns="30000" wrap="square"/>
          <a:lstStyle/>
          <a:p>
            <a:pPr algn="l"/>
            <a:r>
              <a:rPr sz="14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唯一の違い: 公式スキルのうち、editing.md ではなく pptxgenjs.md を読む。</a:t>
            </a:r>
          </a:p>
          <a:p>
            <a:pPr algn="l"/>
            <a:r>
              <a:rPr sz="14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→ Python 経路と JS 経路は「同じ部品庫から、違うレシピを開く」イメージ。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2 — JavaScript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B の動き (Step 1 → 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14859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SKILL.md と pptxgenjs.md を読む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6304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色は # を付けない hex / shadow 再利用禁止 等を学習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20345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slide_spec.md を読む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01168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と同じ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5831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design_tokens.json を読む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6032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と同じ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6324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13182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08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assets/unison/ をリスト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0896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 と同じ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11173968" cy="502920"/>
          </a:xfrm>
          <a:prstGeom prst="roundRect">
            <a:avLst/>
          </a:prstGeom>
          <a:solidFill>
            <a:srgbClr val="FCE5DD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3680460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詰まりに対処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5760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グラデ非対応 → 単色 2 層 / SVG ロゴ不安定 → テキスト代用 / 比較表セル枠線 → 透明矩形重ね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052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42291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/tmp/build.cjs を書く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0624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defineSlideMaster でフッター共通化 + 10 スライド (約 500 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0916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47777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54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NODE_PATH=... node で実行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75488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グローバル install の pptxgenjs を解決して生成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57800"/>
            <a:ext cx="11173968" cy="502920"/>
          </a:xfrm>
          <a:prstGeom prst="roundRect">
            <a:avLst/>
          </a:prstGeom>
          <a:solidFill>
            <a:srgbClr val="F4F6F8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2648" y="53263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035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生成物を検証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python-pptx で枚数確認 + markitdown で本文順序チェック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11173968" cy="502920"/>
          </a:xfrm>
          <a:prstGeom prst="roundRect">
            <a:avLst/>
          </a:prstGeom>
          <a:solidFill>
            <a:srgbClr val="FCE5DD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2648" y="5875020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8521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/tmp/build.cjs を削除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52160"/>
            <a:ext cx="6281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node_modules / package.json をフォルダに残さない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50000" rIns="50000" tIns="30000" bIns="30000" wrap="square"/>
          <a:lstStyle/>
          <a:p>
            <a:pPr algn="l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PART 2 — JavaScript 経路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中間生成物 (捨てる) と 最終生成物 (残す)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50408" cy="4663440"/>
          </a:xfrm>
          <a:prstGeom prst="roundRect">
            <a:avLst/>
          </a:prstGeom>
          <a:solidFill>
            <a:srgbClr val="FCE5DD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50408" cy="5029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5001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[ × ]  中間生成物 / 一時ファイル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/tmp/build.cjs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サブエージェントが書いた Node コード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296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(オプション) package.json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local install した場合のみ生成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41648"/>
            <a:ext cx="128016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ea typeface="Menlo"/>
                <a:latin typeface="Menlo"/>
                <a:cs typeface="Menlo"/>
              </a:rPr>
              <a:t>(オプション) node_modules/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4910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local install した場合のみ生成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5001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→ 削除 / グローバル install で回避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5550408" cy="4663440"/>
          </a:xfrm>
          <a:prstGeom prst="roundRect">
            <a:avLst/>
          </a:prstGeom>
          <a:solidFill>
            <a:srgbClr val="DDF1EE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417320"/>
            <a:ext cx="5550408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90472"/>
            <a:ext cx="5001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[ ○ ]  最終生成物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514600"/>
            <a:ext cx="47274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697480"/>
            <a:ext cx="4453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  <a:ea typeface="Menlo"/>
                <a:latin typeface="Menlo"/>
                <a:cs typeface="Menlo"/>
              </a:rPr>
              <a:t>deck-unison-pptxgenjs.pptx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00400"/>
            <a:ext cx="4453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1.4 MB / 10 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11880"/>
            <a:ext cx="4453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テキスト編集可な PowerPoint。</a:t>
            </a:r>
          </a:p>
          <a:p>
            <a:pPr algn="l"/>
            <a:r>
              <a:rPr sz="12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そのまま PowerPoint で開ける。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20"/>
            <a:ext cx="5001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→ プロジェクトフォルダに残す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2 経路の共通点と差分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4114800" cy="41148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観点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325880"/>
            <a:ext cx="3520440" cy="41148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Python 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25880"/>
            <a:ext cx="3538728" cy="411480"/>
          </a:xfrm>
          <a:prstGeom prst="rect">
            <a:avLst/>
          </a:prstGeom>
          <a:solidFill>
            <a:srgbClr val="2C3E50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JS 経路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411480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共通仕様書 (slide_spec.md)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37360"/>
            <a:ext cx="352044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737360"/>
            <a:ext cx="3538728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411480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デザイントークン (design_tokens.json)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48840"/>
            <a:ext cx="352044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48840"/>
            <a:ext cx="3538728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411480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画像 (assets/unison/)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352044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560320"/>
            <a:ext cx="3538728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411480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Anthropic 公式 pptx スキル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971800"/>
            <a:ext cx="3520440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同じスキル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971800"/>
            <a:ext cx="3538728" cy="411480"/>
          </a:xfrm>
          <a:prstGeom prst="rect">
            <a:avLst/>
          </a:prstGeom>
          <a:solidFill>
            <a:srgbClr val="E3ECF5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○ 同じスキル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411480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読んだガイド 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3383280"/>
            <a:ext cx="352044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editing.md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383280"/>
            <a:ext cx="3538728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pptxgenjs.md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94760"/>
            <a:ext cx="411480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使ったライブラリ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794760"/>
            <a:ext cx="352044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python-pptx, cairosvg, lxml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94760"/>
            <a:ext cx="3538728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pptxgenjs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06240"/>
            <a:ext cx="411480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一時コードの場所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4206240"/>
            <a:ext cx="352044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/tmp/*.py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206240"/>
            <a:ext cx="3538728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/tmp/*.cjs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17720"/>
            <a:ext cx="411480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l"/>
            <a:r>
              <a:rPr sz="11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実行コマンド / 最終サイズ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4617720"/>
            <a:ext cx="3520440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python3 / 1.2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617720"/>
            <a:ext cx="3538728" cy="411480"/>
          </a:xfrm>
          <a:prstGeom prst="rect">
            <a:avLst/>
          </a:prstGeom>
          <a:solidFill>
            <a:srgbClr val="DDF1EE"/>
          </a:solidFill>
          <a:ln w="508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NODE_PATH=... node / 1.4 MB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" y="1737360"/>
            <a:ext cx="365760" cy="164592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共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" y="3383280"/>
            <a:ext cx="365760" cy="1645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個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69280"/>
            <a:ext cx="11173968" cy="685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4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「共通仕様書 1 本 → サブエージェント並列 → 同時に 2 つの pptx」 が運用のキモ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今回のプロジェクトの作業フロー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Step 5 〜 9 = サブエージェント並列フェーズ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090672"/>
            <a:ext cx="11631168" cy="2011680"/>
          </a:xfrm>
          <a:prstGeom prst="roundRect">
            <a:avLst/>
          </a:prstGeom>
          <a:solidFill>
            <a:srgbClr val="E3ECF5"/>
          </a:solidFill>
          <a:ln w="1524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1623060"/>
            <a:ext cx="384048" cy="329184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田中さん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45920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「3 方法 (python-pptx / pptxGenJs / Marp) を比較したい」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" y="2007108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29968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公式 pptx スキルをクローン → ~/.claude/skills/pptx/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" y="2391156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140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14016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ランタイム install: python-pptx, cairosvg, frontmatter / pptxgenjs, gray-matter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" y="2775204"/>
            <a:ext cx="384048" cy="329184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9806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田中さん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798064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「もっと本格的な営業資料で。ホームページから画像と色を取って」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159252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182112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Playwright で uni-s-on.com を開く → 色 / フォント / 画像 URL を抽出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" y="3543300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66160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curl で画像 DL → sips でリサイズ → assets/unison/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" y="3927348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502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950208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design_tokens.json と slide_spec.md を書く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" y="4311396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342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334256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2 つを並列起動 (A: Python / B: JS)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4695444"/>
            <a:ext cx="384048" cy="32918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18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ea typeface="Hiragino Sans"/>
                <a:latin typeface="Hiragino Sans"/>
                <a:cs typeface="Hiragino Sans"/>
              </a:rPr>
              <a:t>サブA/B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718304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並行して /tmp/build.* を書く → 実行 → 削除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" y="5079492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02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102352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生成された 2 つの .pptx を検証 (枚数 + 本文)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" y="5463540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486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486400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README に「実装できた / 諦めた要素」を記録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" y="5847588"/>
            <a:ext cx="384048" cy="329184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70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ea typeface="Hiragino Sans"/>
                <a:latin typeface="Hiragino Sans"/>
                <a:cs typeface="Hiragino Sans"/>
              </a:rPr>
              <a:t>田中さん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870448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「Drive にアップして」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" y="6231636"/>
            <a:ext cx="384048" cy="329184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2544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メイン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6254496"/>
            <a:ext cx="9253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gws drive CLI で Uni'son社 / PPT例 フォルダにアップロード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9144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覚えてほしい 4 つ + 作業後のファイル配置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覚えてほしい 4 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760720" cy="914400"/>
          </a:xfrm>
          <a:prstGeom prst="roundRect">
            <a:avLst/>
          </a:prstGeom>
          <a:solidFill>
            <a:srgbClr val="F4F6F8"/>
          </a:solidFill>
          <a:ln w="762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21284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055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スキル = ガイド + 部品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完成アプリではない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5760720" cy="914400"/>
          </a:xfrm>
          <a:prstGeom prst="roundRect">
            <a:avLst/>
          </a:prstGeom>
          <a:solidFill>
            <a:srgbClr val="F4F6F8"/>
          </a:solidFill>
          <a:ln w="762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21868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3639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サブエージェント = その場でコード書いて捨てる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永続スクリプトを作らない運用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5760720" cy="914400"/>
          </a:xfrm>
          <a:prstGeom prst="roundRect">
            <a:avLst/>
          </a:prstGeom>
          <a:solidFill>
            <a:srgbClr val="F4F6F8"/>
          </a:solidFill>
          <a:ln w="762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22452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4223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共通仕様書 1 本で並列生成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Markdown + JSON で 2 言語に伝播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5760720" cy="914400"/>
          </a:xfrm>
          <a:prstGeom prst="roundRect">
            <a:avLst/>
          </a:prstGeom>
          <a:solidFill>
            <a:srgbClr val="F4F6F8"/>
          </a:solidFill>
          <a:ln w="762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23036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 wrap="square"/>
          <a:lstStyle/>
          <a:p>
            <a:pPr algn="ctr"/>
            <a:r>
              <a:rPr sz="1800" b="1">
                <a:solidFill>
                  <a:srgbClr val="FFFFFF"/>
                </a:solidFill>
                <a:ea typeface="Hiragino Sans"/>
                <a:latin typeface="Hiragino Sans"/>
                <a:cs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4807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ea typeface="Hiragino Sans"/>
                <a:latin typeface="Hiragino Sans"/>
                <a:cs typeface="Hiragino Sans"/>
              </a:rPr>
              <a:t>人間ファイルは残す、LLM コードは捨てる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再現性は仕様書側に持たせる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37160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5C8A"/>
                </a:solidFill>
                <a:ea typeface="Hiragino Sans"/>
                <a:latin typeface="Hiragino Sans"/>
                <a:cs typeface="Hiragino Sans"/>
              </a:rPr>
              <a:t>作業後のファイル配置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965960"/>
            <a:ext cx="5257800" cy="41605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194560"/>
            <a:ext cx="4709160" cy="370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B8E0"/>
                </a:solidFill>
                <a:latin typeface="Menlo"/>
              </a:rPr>
              <a:t>Flow/202606/2026-06-02/ユニゾン社/</a:t>
            </a:r>
          </a:p>
          <a:p>
            <a:pPr algn="l"/>
            <a:r>
              <a:rPr sz="1000">
                <a:solidFill>
                  <a:srgbClr val="F5C97F"/>
                </a:solidFill>
                <a:latin typeface="Menlo"/>
              </a:rPr>
              <a:t>├── slide_spec.md              # 人間が書く</a:t>
            </a:r>
          </a:p>
          <a:p>
            <a:pPr algn="l"/>
            <a:r>
              <a:rPr sz="1000">
                <a:solidFill>
                  <a:srgbClr val="F5C97F"/>
                </a:solidFill>
                <a:latin typeface="Menlo"/>
              </a:rPr>
              <a:t>├── design_tokens.json         # 人間が書く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├── assets/unison/             # 外部から DL</a:t>
            </a:r>
          </a:p>
          <a:p>
            <a:pPr algn="l"/>
            <a:r>
              <a:rPr sz="1000" b="1">
                <a:solidFill>
                  <a:srgbClr val="7FD1C5"/>
                </a:solidFill>
                <a:latin typeface="Menlo"/>
              </a:rPr>
              <a:t>├── deck-unison-python-pptx.pptx</a:t>
            </a:r>
          </a:p>
          <a:p>
            <a:pPr algn="l"/>
            <a:r>
              <a:rPr sz="1000" b="1">
                <a:solidFill>
                  <a:srgbClr val="7FD1C5"/>
                </a:solidFill>
                <a:latin typeface="Menlo"/>
              </a:rPr>
              <a:t>├── deck-unison-pptxgenjs.pptx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├── README.md                  # 経緯と所見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├── pptx_python_vs_js.md       # 違い比較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└── スライド生成フロー_python_vs_js.md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 </a:t>
            </a:r>
          </a:p>
          <a:p>
            <a:pPr algn="l"/>
            <a:r>
              <a:rPr sz="1000" b="1">
                <a:solidFill>
                  <a:srgbClr val="9BB8E0"/>
                </a:solidFill>
                <a:latin typeface="Menlo"/>
              </a:rPr>
              <a:t>~/.claude/skills/pptx/         # 公式スキル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├── SKILL.md</a:t>
            </a:r>
          </a:p>
          <a:p>
            <a:pPr algn="l"/>
            <a:r>
              <a:rPr sz="1000">
                <a:solidFill>
                  <a:srgbClr val="B8C7DA"/>
                </a:solidFill>
                <a:latin typeface="Menlo"/>
              </a:rPr>
              <a:t>├── editing.md                 # Python 用</a:t>
            </a:r>
          </a:p>
          <a:p>
            <a:pPr algn="l"/>
            <a:r>
              <a:rPr sz="1000">
                <a:solidFill>
                  <a:srgbClr val="B8C7DA"/>
                </a:solidFill>
                <a:latin typeface="Menlo"/>
              </a:rPr>
              <a:t>├── pptxgenjs.md               # JS 用</a:t>
            </a:r>
          </a:p>
          <a:p>
            <a:pPr algn="l"/>
            <a:r>
              <a:rPr sz="1000">
                <a:solidFill>
                  <a:srgbClr val="FFFFFF"/>
                </a:solidFill>
                <a:latin typeface="Menlo"/>
              </a:rPr>
              <a:t>└── scripts/                   # 低レベル部品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Claude Code × PowerPoint 解説 | 2026-06-02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ea typeface="Hiragino Sans"/>
                <a:latin typeface="Hiragino Sans"/>
                <a:cs typeface="Hiragino San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