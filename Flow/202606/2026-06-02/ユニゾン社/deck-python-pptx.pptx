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ea typeface="Hiragino Sans"/>
                <a:latin typeface="Hiragino Sans"/>
              </a:rPr>
              <a:t>Claude Code で PowerPoint を作る 3 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ea typeface="Hiragino Sans"/>
                <a:latin typeface="Hiragino Sans"/>
              </a:rPr>
              <a:t>・ ローカル PC のデータを参照しながら Claude Code 上でスライドを生成する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ea typeface="Hiragino Sans"/>
                <a:latin typeface="Hiragino Sans"/>
              </a:rPr>
              <a:t>・ 候補: python-pptx / pptxGenJs / Marp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ea typeface="Hiragino Sans"/>
                <a:latin typeface="Hiragino Sans"/>
              </a:rPr>
              <a:t>・ 共通入力 Markdown を 1 本 (この deck.md) → 3 方法で同一内容を pptx 化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ea typeface="Hiragino Sans"/>
                <a:latin typeface="Hiragino Sans"/>
              </a:rPr>
              <a:t>・ 比較軸: 入力形式 / 出力品質 / テンプレ流用性 / ブランドカラー指定 / 編集性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76B5A"/>
                </a:solidFill>
                <a:ea typeface="Hiragino Sans"/>
                <a:latin typeface="Hiragino Sans"/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ea typeface="Hiragino Sans"/>
                <a:latin typeface="Hiragino Sans"/>
              </a:rPr>
              <a:t>方法A: python-pptx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ea typeface="Hiragino Sans"/>
                <a:latin typeface="Hiragino Sans"/>
              </a:rPr>
              <a:t>・ 入力: Python コード + 空テンプレ.pptx (Anthropic Cream 等)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ea typeface="Hiragino Sans"/>
                <a:latin typeface="Hiragino Sans"/>
              </a:rPr>
              <a:t>・ 処理: pptx の中身 (Open XML) を Python オブジェクトとして読み書き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ea typeface="Hiragino Sans"/>
                <a:latin typeface="Hiragino Sans"/>
              </a:rPr>
              <a:t>・ 出力: 編集可能 .pptx (PowerPoint で再編集 OK)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ea typeface="Hiragino Sans"/>
                <a:latin typeface="Hiragino Sans"/>
              </a:rPr>
              <a:t>・ 向く: コーポレートテンプレ流用、データ駆動の量産、表/グラフ多用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ea typeface="Hiragino Sans"/>
                <a:latin typeface="Hiragino Sans"/>
              </a:rPr>
              <a:t>・ 向かない: ドラフトを即時に投影したいとき、レイアウト微調整の試行錯誤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76B5A"/>
                </a:solidFill>
                <a:ea typeface="Hiragino Sans"/>
                <a:latin typeface="Hiragino Sans"/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ea typeface="Hiragino Sans"/>
                <a:latin typeface="Hiragino Sans"/>
              </a:rPr>
              <a:t>方法B: pptxGenJs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ea typeface="Hiragino Sans"/>
                <a:latin typeface="Hiragino Sans"/>
              </a:rPr>
              <a:t>・ 入力: JavaScript / Node コード (オブジェクト記述)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ea typeface="Hiragino Sans"/>
                <a:latin typeface="Hiragino Sans"/>
              </a:rPr>
              <a:t>・ 処理: JS オブジェクトを pptxGenJs ライブラリが pptx にシリアライズ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ea typeface="Hiragino Sans"/>
                <a:latin typeface="Hiragino Sans"/>
              </a:rPr>
              <a:t>・ 出力: 編集可能 .pptx (PowerPoint で再編集 OK)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ea typeface="Hiragino Sans"/>
                <a:latin typeface="Hiragino Sans"/>
              </a:rPr>
              <a:t>・ 向く: Web アプリからの動的生成、JS エコシステム前提のチーム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ea typeface="Hiragino Sans"/>
                <a:latin typeface="Hiragino Sans"/>
              </a:rPr>
              <a:t>・ 向かない: 既存 PowerPoint テンプレを忠実に流用したいとき (テンプレ読込弱め)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76B5A"/>
                </a:solidFill>
                <a:ea typeface="Hiragino Sans"/>
                <a:latin typeface="Hiragino Sans"/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ea typeface="Hiragino Sans"/>
                <a:latin typeface="Hiragino Sans"/>
              </a:rPr>
              <a:t>方法C: Marp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ea typeface="Hiragino Sans"/>
                <a:latin typeface="Hiragino Sans"/>
              </a:rPr>
              <a:t>・ 入力: Markdown 1 本 (フロントマター + `---` 区切り)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ea typeface="Hiragino Sans"/>
                <a:latin typeface="Hiragino Sans"/>
              </a:rPr>
              <a:t>・ 処理: Markdown を Marp CLI が解析 → HTML/CSS → 各形式に変換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ea typeface="Hiragino Sans"/>
                <a:latin typeface="Hiragino Sans"/>
              </a:rPr>
              <a:t>・ 出力: PDF / HTML / .pptx (既定は画像化、`--pptx-editable` で編集可)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ea typeface="Hiragino Sans"/>
                <a:latin typeface="Hiragino Sans"/>
              </a:rPr>
              <a:t>・ 向く: 速さ重視、Git 管理、Markdown ドラフトをそのまま投影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ea typeface="Hiragino Sans"/>
                <a:latin typeface="Hiragino Sans"/>
              </a:rPr>
              <a:t>・ 向かない: PowerPoint で細かく後編集する用途、複雑なレイアウト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76B5A"/>
                </a:solidFill>
                <a:ea typeface="Hiragino Sans"/>
                <a:latin typeface="Hiragino Sans"/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ea typeface="Hiragino Sans"/>
                <a:latin typeface="Hiragino Sans"/>
              </a:rPr>
              <a:t>比較表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956560"/>
                <a:gridCol w="2956560"/>
                <a:gridCol w="2956560"/>
              </a:tblGrid>
              <a:tr h="457200"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ea typeface="Hiragino Sans"/>
                          <a:latin typeface="Hiragino Sans"/>
                        </a:rPr>
                        <a:t>観点</a:t>
                      </a:r>
                    </a:p>
                  </a:txBody>
                  <a:tcPr>
                    <a:solidFill>
                      <a:srgbClr val="CC785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ea typeface="Hiragino Sans"/>
                          <a:latin typeface="Hiragino Sans"/>
                        </a:rPr>
                        <a:t>python-pptx</a:t>
                      </a:r>
                    </a:p>
                  </a:txBody>
                  <a:tcPr>
                    <a:solidFill>
                      <a:srgbClr val="CC785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ea typeface="Hiragino Sans"/>
                          <a:latin typeface="Hiragino Sans"/>
                        </a:rPr>
                        <a:t>pptxGenJs</a:t>
                      </a:r>
                    </a:p>
                  </a:txBody>
                  <a:tcPr>
                    <a:solidFill>
                      <a:srgbClr val="CC785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ea typeface="Hiragino Sans"/>
                          <a:latin typeface="Hiragino Sans"/>
                        </a:rPr>
                        <a:t>Marp</a:t>
                      </a:r>
                    </a:p>
                  </a:txBody>
                  <a:tcPr>
                    <a:solidFill>
                      <a:srgbClr val="CC785C"/>
                    </a:solidFill>
                  </a:tcPr>
                </a:tc>
              </a:tr>
              <a:tr h="457200"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入力形式</a:t>
                      </a:r>
                    </a:p>
                  </a:txBody>
                  <a:tcPr>
                    <a:solidFill>
                      <a:srgbClr val="FAF5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Python + テンプレ</a:t>
                      </a:r>
                    </a:p>
                  </a:txBody>
                  <a:tcPr>
                    <a:solidFill>
                      <a:srgbClr val="FAF5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JS オブジェクト</a:t>
                      </a:r>
                    </a:p>
                  </a:txBody>
                  <a:tcPr>
                    <a:solidFill>
                      <a:srgbClr val="FAF5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Markdown</a:t>
                      </a:r>
                    </a:p>
                  </a:txBody>
                  <a:tcPr>
                    <a:solidFill>
                      <a:srgbClr val="FAF5EA"/>
                    </a:solidFill>
                  </a:tcPr>
                </a:tc>
              </a:tr>
              <a:tr h="457200"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出力</a:t>
                      </a:r>
                    </a:p>
                  </a:txBody>
                  <a:tcPr>
                    <a:solidFill>
                      <a:srgbClr val="F5EFE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編集可 .pptx</a:t>
                      </a:r>
                    </a:p>
                  </a:txBody>
                  <a:tcPr>
                    <a:solidFill>
                      <a:srgbClr val="F5EFE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編集可 .pptx</a:t>
                      </a:r>
                    </a:p>
                  </a:txBody>
                  <a:tcPr>
                    <a:solidFill>
                      <a:srgbClr val="F5EFE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画像化/編集可 .pptx, PDF, HTML</a:t>
                      </a:r>
                    </a:p>
                  </a:txBody>
                  <a:tcPr>
                    <a:solidFill>
                      <a:srgbClr val="F5EFE0"/>
                    </a:solidFill>
                  </a:tcPr>
                </a:tc>
              </a:tr>
              <a:tr h="457200"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テンプレ流用</a:t>
                      </a:r>
                    </a:p>
                  </a:txBody>
                  <a:tcPr>
                    <a:solidFill>
                      <a:srgbClr val="FAF5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◎ (既存pptx読込)</a:t>
                      </a:r>
                    </a:p>
                  </a:txBody>
                  <a:tcPr>
                    <a:solidFill>
                      <a:srgbClr val="FAF5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△ (マスター定義)</a:t>
                      </a:r>
                    </a:p>
                  </a:txBody>
                  <a:tcPr>
                    <a:solidFill>
                      <a:srgbClr val="FAF5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△ (CSS)</a:t>
                      </a:r>
                    </a:p>
                  </a:txBody>
                  <a:tcPr>
                    <a:solidFill>
                      <a:srgbClr val="FAF5EA"/>
                    </a:solidFill>
                  </a:tcPr>
                </a:tc>
              </a:tr>
              <a:tr h="457200"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ブランドカラー</a:t>
                      </a:r>
                    </a:p>
                  </a:txBody>
                  <a:tcPr>
                    <a:solidFill>
                      <a:srgbClr val="F5EFE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◎ (テンプレ + コード)</a:t>
                      </a:r>
                    </a:p>
                  </a:txBody>
                  <a:tcPr>
                    <a:solidFill>
                      <a:srgbClr val="F5EFE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◎ (コード)</a:t>
                      </a:r>
                    </a:p>
                  </a:txBody>
                  <a:tcPr>
                    <a:solidFill>
                      <a:srgbClr val="F5EFE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◎ (CSS)</a:t>
                      </a:r>
                    </a:p>
                  </a:txBody>
                  <a:tcPr>
                    <a:solidFill>
                      <a:srgbClr val="F5EFE0"/>
                    </a:solidFill>
                  </a:tcPr>
                </a:tc>
              </a:tr>
              <a:tr h="457200"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PowerPointでの後編集</a:t>
                      </a:r>
                    </a:p>
                  </a:txBody>
                  <a:tcPr>
                    <a:solidFill>
                      <a:srgbClr val="FAF5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◎</a:t>
                      </a:r>
                    </a:p>
                  </a:txBody>
                  <a:tcPr>
                    <a:solidFill>
                      <a:srgbClr val="FAF5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◎</a:t>
                      </a:r>
                    </a:p>
                  </a:txBody>
                  <a:tcPr>
                    <a:solidFill>
                      <a:srgbClr val="FAF5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△ (画像化時は不可)</a:t>
                      </a:r>
                    </a:p>
                  </a:txBody>
                  <a:tcPr>
                    <a:solidFill>
                      <a:srgbClr val="FAF5EA"/>
                    </a:solidFill>
                  </a:tcPr>
                </a:tc>
              </a:tr>
              <a:tr h="457200"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学習コスト</a:t>
                      </a:r>
                    </a:p>
                  </a:txBody>
                  <a:tcPr>
                    <a:solidFill>
                      <a:srgbClr val="F5EFE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中</a:t>
                      </a:r>
                    </a:p>
                  </a:txBody>
                  <a:tcPr>
                    <a:solidFill>
                      <a:srgbClr val="F5EFE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中</a:t>
                      </a:r>
                    </a:p>
                  </a:txBody>
                  <a:tcPr>
                    <a:solidFill>
                      <a:srgbClr val="F5EFE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低</a:t>
                      </a:r>
                    </a:p>
                  </a:txBody>
                  <a:tcPr>
                    <a:solidFill>
                      <a:srgbClr val="F5EFE0"/>
                    </a:solidFill>
                  </a:tcPr>
                </a:tc>
              </a:tr>
              <a:tr h="457200"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ローカル参照</a:t>
                      </a:r>
                    </a:p>
                  </a:txBody>
                  <a:tcPr>
                    <a:solidFill>
                      <a:srgbClr val="FAF5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◎</a:t>
                      </a:r>
                    </a:p>
                  </a:txBody>
                  <a:tcPr>
                    <a:solidFill>
                      <a:srgbClr val="FAF5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◎</a:t>
                      </a:r>
                    </a:p>
                  </a:txBody>
                  <a:tcPr>
                    <a:solidFill>
                      <a:srgbClr val="FAF5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◎</a:t>
                      </a:r>
                    </a:p>
                  </a:txBody>
                  <a:tcPr>
                    <a:solidFill>
                      <a:srgbClr val="FAF5EA"/>
                    </a:solidFill>
                  </a:tcPr>
                </a:tc>
              </a:tr>
              <a:tr h="457200"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日本語</a:t>
                      </a:r>
                    </a:p>
                  </a:txBody>
                  <a:tcPr>
                    <a:solidFill>
                      <a:srgbClr val="F5EFE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◎</a:t>
                      </a:r>
                    </a:p>
                  </a:txBody>
                  <a:tcPr>
                    <a:solidFill>
                      <a:srgbClr val="F5EFE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○</a:t>
                      </a:r>
                    </a:p>
                  </a:txBody>
                  <a:tcPr>
                    <a:solidFill>
                      <a:srgbClr val="F5EFE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◎ (CSS で Noto Sans JP)</a:t>
                      </a:r>
                    </a:p>
                  </a:txBody>
                  <a:tcPr>
                    <a:solidFill>
                      <a:srgbClr val="F5EFE0"/>
                    </a:solidFill>
                  </a:tcPr>
                </a:tc>
              </a:tr>
              <a:tr h="457200"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推奨ユースケース</a:t>
                      </a:r>
                    </a:p>
                  </a:txBody>
                  <a:tcPr>
                    <a:solidFill>
                      <a:srgbClr val="FAF5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会社テンプレ忠実再現</a:t>
                      </a:r>
                    </a:p>
                  </a:txBody>
                  <a:tcPr>
                    <a:solidFill>
                      <a:srgbClr val="FAF5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Webアプリ連携</a:t>
                      </a:r>
                    </a:p>
                  </a:txBody>
                  <a:tcPr>
                    <a:solidFill>
                      <a:srgbClr val="FAF5EA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ea typeface="Hiragino Sans"/>
                          <a:latin typeface="Hiragino Sans"/>
                        </a:rPr>
                        <a:t>速いドラフト/技術資料</a:t>
                      </a:r>
                    </a:p>
                  </a:txBody>
                  <a:tcPr>
                    <a:solidFill>
                      <a:srgbClr val="FAF5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76B5A"/>
                </a:solidFill>
                <a:ea typeface="Hiragino Sans"/>
                <a:latin typeface="Hiragino Sans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